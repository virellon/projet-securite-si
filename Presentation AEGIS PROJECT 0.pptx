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82" r:id="rId5"/>
    <p:sldId id="292" r:id="rId6"/>
    <p:sldId id="293" r:id="rId7"/>
    <p:sldId id="291" r:id="rId8"/>
    <p:sldId id="283" r:id="rId9"/>
    <p:sldId id="284" r:id="rId10"/>
    <p:sldId id="296" r:id="rId11"/>
    <p:sldId id="297" r:id="rId12"/>
  </p:sldIdLst>
  <p:sldSz cx="12192000" cy="6858000"/>
  <p:notesSz cx="6858000" cy="9144000"/>
  <p:defaultTextStyle>
    <a:defPPr rtl="0"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1" autoAdjust="0"/>
    <p:restoredTop sz="94631" autoAdjust="0"/>
  </p:normalViewPr>
  <p:slideViewPr>
    <p:cSldViewPr snapToGrid="0">
      <p:cViewPr varScale="1">
        <p:scale>
          <a:sx n="72" d="100"/>
          <a:sy n="72" d="100"/>
        </p:scale>
        <p:origin x="420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0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5FAA28-D333-4D57-AF0E-BDF53B4498B2}" type="datetime1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D03277C-3F5C-4673-8D79-1738A329ED93}" type="datetime1">
              <a:rPr lang="en-GB" noProof="0" smtClean="0"/>
              <a:t>09/07/2026</a:t>
            </a:fld>
            <a:endParaRPr lang="en-GB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530193B-564F-4854-8A52-728F3FB19C85}" type="slidenum">
              <a:rPr lang="en-GB" noProof="0" smtClean="0"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6460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8716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8845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270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716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137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530193B-564F-4854-8A52-728F3FB19C85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949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Sma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">
            <a:extLst>
              <a:ext uri="{FF2B5EF4-FFF2-40B4-BE49-F238E27FC236}">
                <a16:creationId xmlns:a16="http://schemas.microsoft.com/office/drawing/2014/main" id="{837F9836-5B23-424D-8C60-AC02A8512A4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980476" y="0"/>
            <a:ext cx="2211524" cy="6858000"/>
          </a:xfrm>
          <a:solidFill>
            <a:schemeClr val="bg1">
              <a:lumMod val="9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n-GB" noProof="0"/>
              <a:t>Insert or Drag &amp; Drop your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86990" y="4346296"/>
            <a:ext cx="6798250" cy="1674470"/>
          </a:xfrm>
        </p:spPr>
        <p:txBody>
          <a:bodyPr rtlCol="0" anchor="b"/>
          <a:lstStyle>
            <a:lvl1pPr algn="r">
              <a:lnSpc>
                <a:spcPts val="5000"/>
              </a:lnSpc>
              <a:defRPr sz="6000" b="1" cap="all" spc="-30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en-GB" noProof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1904" y="4650539"/>
            <a:ext cx="3401478" cy="1192038"/>
          </a:xfrm>
          <a:solidFill>
            <a:schemeClr val="tx1"/>
          </a:solidFill>
        </p:spPr>
        <p:txBody>
          <a:bodyPr lIns="252000" tIns="0" rtlCol="0" anchor="ctr"/>
          <a:lstStyle>
            <a:lvl1pPr marL="0" indent="0" algn="l">
              <a:lnSpc>
                <a:spcPct val="100000"/>
              </a:lnSpc>
              <a:buNone/>
              <a:defRPr sz="18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GB" noProof="0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F2950-BBCB-4A53-9EAC-D714777B8FA2}"/>
              </a:ext>
            </a:extLst>
          </p:cNvPr>
          <p:cNvSpPr/>
          <p:nvPr userDrawn="1"/>
        </p:nvSpPr>
        <p:spPr>
          <a:xfrm>
            <a:off x="0" y="6794309"/>
            <a:ext cx="9980476" cy="63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253865-24CF-4EF5-92A5-F64EB9ABC8B7}"/>
              </a:ext>
            </a:extLst>
          </p:cNvPr>
          <p:cNvSpPr/>
          <p:nvPr userDrawn="1"/>
        </p:nvSpPr>
        <p:spPr>
          <a:xfrm>
            <a:off x="0" y="0"/>
            <a:ext cx="9980476" cy="63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E19773-9B6A-4A2C-95A5-69A3788C2D94}"/>
              </a:ext>
            </a:extLst>
          </p:cNvPr>
          <p:cNvSpPr/>
          <p:nvPr userDrawn="1"/>
        </p:nvSpPr>
        <p:spPr>
          <a:xfrm rot="5400000">
            <a:off x="-3378441" y="3410285"/>
            <a:ext cx="6826157" cy="6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54ED587-2D2F-4D3F-B55B-C64465AB4EC5}"/>
              </a:ext>
            </a:extLst>
          </p:cNvPr>
          <p:cNvSpPr/>
          <p:nvPr userDrawn="1"/>
        </p:nvSpPr>
        <p:spPr>
          <a:xfrm>
            <a:off x="69274" y="66963"/>
            <a:ext cx="9911201" cy="672734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86990" y="4346296"/>
            <a:ext cx="6798250" cy="1674470"/>
          </a:xfrm>
        </p:spPr>
        <p:txBody>
          <a:bodyPr rtlCol="0" anchor="b"/>
          <a:lstStyle>
            <a:lvl1pPr algn="r">
              <a:lnSpc>
                <a:spcPts val="5000"/>
              </a:lnSpc>
              <a:defRPr sz="6000" b="1" cap="all" spc="-3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n-GB" noProof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6418" y="4650539"/>
            <a:ext cx="2456210" cy="1192038"/>
          </a:xfrm>
          <a:solidFill>
            <a:schemeClr val="bg1"/>
          </a:solidFill>
        </p:spPr>
        <p:txBody>
          <a:bodyPr lIns="252000" tIns="0" rtlCol="0" anchor="ctr"/>
          <a:lstStyle>
            <a:lvl1pPr marL="0" indent="0" algn="l">
              <a:lnSpc>
                <a:spcPct val="100000"/>
              </a:lnSpc>
              <a:buNone/>
              <a:defRPr sz="18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GB" noProof="0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F2950-BBCB-4A53-9EAC-D714777B8FA2}"/>
              </a:ext>
            </a:extLst>
          </p:cNvPr>
          <p:cNvSpPr/>
          <p:nvPr userDrawn="1"/>
        </p:nvSpPr>
        <p:spPr>
          <a:xfrm>
            <a:off x="0" y="6794309"/>
            <a:ext cx="9980476" cy="63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253865-24CF-4EF5-92A5-F64EB9ABC8B7}"/>
              </a:ext>
            </a:extLst>
          </p:cNvPr>
          <p:cNvSpPr/>
          <p:nvPr userDrawn="1"/>
        </p:nvSpPr>
        <p:spPr>
          <a:xfrm>
            <a:off x="0" y="0"/>
            <a:ext cx="9980476" cy="63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E19773-9B6A-4A2C-95A5-69A3788C2D94}"/>
              </a:ext>
            </a:extLst>
          </p:cNvPr>
          <p:cNvSpPr/>
          <p:nvPr userDrawn="1"/>
        </p:nvSpPr>
        <p:spPr>
          <a:xfrm rot="5400000">
            <a:off x="-3378441" y="3410285"/>
            <a:ext cx="6826157" cy="692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98A99C-9485-48F0-8E1E-227AD1348A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218115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">
            <a:extLst>
              <a:ext uri="{FF2B5EF4-FFF2-40B4-BE49-F238E27FC236}">
                <a16:creationId xmlns:a16="http://schemas.microsoft.com/office/drawing/2014/main" id="{069FFAE5-B16E-4571-88F7-52FA5354B1A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273" y="63691"/>
            <a:ext cx="9911201" cy="6727346"/>
          </a:xfrm>
          <a:solidFill>
            <a:schemeClr val="tx1">
              <a:lumMod val="75000"/>
              <a:lumOff val="2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n-GB" noProof="0"/>
              <a:t>Insert or Drag &amp; Drop your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86990" y="4346296"/>
            <a:ext cx="6798250" cy="1674470"/>
          </a:xfrm>
        </p:spPr>
        <p:txBody>
          <a:bodyPr rtlCol="0" anchor="b"/>
          <a:lstStyle>
            <a:lvl1pPr algn="r">
              <a:lnSpc>
                <a:spcPts val="5000"/>
              </a:lnSpc>
              <a:defRPr sz="6000" b="1" cap="all" spc="-3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n-GB" noProof="0"/>
              <a:t>PRESENTATION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6418" y="4650539"/>
            <a:ext cx="2456210" cy="1192038"/>
          </a:xfrm>
          <a:solidFill>
            <a:schemeClr val="bg1"/>
          </a:solidFill>
        </p:spPr>
        <p:txBody>
          <a:bodyPr lIns="252000" tIns="0" rtlCol="0" anchor="ctr"/>
          <a:lstStyle>
            <a:lvl1pPr marL="0" indent="0" algn="l">
              <a:lnSpc>
                <a:spcPct val="100000"/>
              </a:lnSpc>
              <a:buNone/>
              <a:defRPr sz="18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GB" noProof="0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F2950-BBCB-4A53-9EAC-D714777B8FA2}"/>
              </a:ext>
            </a:extLst>
          </p:cNvPr>
          <p:cNvSpPr/>
          <p:nvPr userDrawn="1"/>
        </p:nvSpPr>
        <p:spPr>
          <a:xfrm>
            <a:off x="0" y="6794309"/>
            <a:ext cx="9980476" cy="63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253865-24CF-4EF5-92A5-F64EB9ABC8B7}"/>
              </a:ext>
            </a:extLst>
          </p:cNvPr>
          <p:cNvSpPr/>
          <p:nvPr userDrawn="1"/>
        </p:nvSpPr>
        <p:spPr>
          <a:xfrm>
            <a:off x="0" y="0"/>
            <a:ext cx="9980476" cy="636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E19773-9B6A-4A2C-95A5-69A3788C2D94}"/>
              </a:ext>
            </a:extLst>
          </p:cNvPr>
          <p:cNvSpPr/>
          <p:nvPr userDrawn="1"/>
        </p:nvSpPr>
        <p:spPr>
          <a:xfrm rot="5400000">
            <a:off x="-3378441" y="3410285"/>
            <a:ext cx="6826157" cy="692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98A99C-9485-48F0-8E1E-227AD1348A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09473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1599E2D7-24B3-4D66-9AFB-83C1AEC4DBBB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980476" y="0"/>
            <a:ext cx="2211524" cy="6192000"/>
          </a:xfrm>
          <a:solidFill>
            <a:schemeClr val="bg1">
              <a:lumMod val="9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n-GB" noProof="0"/>
              <a:t>Insert or Drag &amp; Drop your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5086" y="1807950"/>
            <a:ext cx="5184913" cy="432000"/>
          </a:xfrm>
        </p:spPr>
        <p:txBody>
          <a:bodyPr rtlCol="0"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44886" y="2383950"/>
            <a:ext cx="5184913" cy="360000"/>
          </a:xfrm>
        </p:spPr>
        <p:txBody>
          <a:bodyPr rtlCol="0"/>
          <a:lstStyle>
            <a:lvl1pPr marL="0" indent="0" algn="r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445000" y="2908300"/>
            <a:ext cx="5184800" cy="3283700"/>
          </a:xfrm>
          <a:solidFill>
            <a:schemeClr val="bg1"/>
          </a:solidFill>
        </p:spPr>
        <p:txBody>
          <a:bodyPr lIns="180000" tIns="252000" rIns="252000" rtlCol="0"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A1E79-BA17-41C5-98B7-CFBC5859A51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5010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23393" y="1343906"/>
            <a:ext cx="3736800" cy="3933645"/>
          </a:xfrm>
          <a:solidFill>
            <a:schemeClr val="bg1"/>
          </a:solidFill>
        </p:spPr>
        <p:txBody>
          <a:bodyPr lIns="180000" tIns="180000" rIns="180000"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A1E79-BA17-41C5-98B7-CFBC5859A51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492C2A1D-F7BD-46B6-BC01-15D365ACD50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60193" y="1344803"/>
            <a:ext cx="3737526" cy="3933645"/>
          </a:xfrm>
          <a:solidFill>
            <a:schemeClr val="tx1">
              <a:lumMod val="75000"/>
              <a:lumOff val="2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n-GB" noProof="0"/>
              <a:t>Insert or Drag &amp; Drop your photo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F4F1543-153D-4F77-A4A9-C9BBA1C2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9131100" cy="432000"/>
          </a:xfrm>
        </p:spPr>
        <p:txBody>
          <a:bodyPr rtlCol="0"/>
          <a:lstStyle/>
          <a:p>
            <a:pPr rtl="0"/>
            <a:r>
              <a:rPr lang="en-GB" noProof="0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FAA210E-391A-499A-89D5-F222045FD1A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6895900" cy="360000"/>
          </a:xfrm>
        </p:spPr>
        <p:txBody>
          <a:bodyPr rtlCol="0"/>
          <a:lstStyle>
            <a:lvl1pPr marL="0" indent="0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347197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4633398-8EC3-417B-BEA6-101D8F22467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9198000" cy="360000"/>
          </a:xfrm>
        </p:spPr>
        <p:txBody>
          <a:bodyPr rtlCol="0"/>
          <a:lstStyle>
            <a:lvl1pPr marL="0" indent="0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  <p:sp>
        <p:nvSpPr>
          <p:cNvPr id="3" name="Comparison Left Placeholder 1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32000" y="1432296"/>
            <a:ext cx="4500000" cy="527076"/>
          </a:xfrm>
          <a:solidFill>
            <a:schemeClr val="tx1"/>
          </a:solidFill>
        </p:spPr>
        <p:txBody>
          <a:bodyPr lIns="180000" tIns="36000" rtlCol="0" anchor="ctr"/>
          <a:lstStyle>
            <a:lvl1pPr marL="0" indent="0">
              <a:buNone/>
              <a:defRPr sz="2400" b="1" spc="-15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2000" y="2023668"/>
            <a:ext cx="4500000" cy="4168332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12" name="Comparison Left Placeholder 2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29800" y="1433105"/>
            <a:ext cx="4500000" cy="525283"/>
          </a:xfrm>
          <a:solidFill>
            <a:schemeClr val="tx1"/>
          </a:solidFill>
        </p:spPr>
        <p:txBody>
          <a:bodyPr lIns="180000" tIns="36000" rtlCol="0" anchor="ctr"/>
          <a:lstStyle>
            <a:lvl1pPr marL="0" indent="0">
              <a:buNone/>
              <a:defRPr sz="2400" b="1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en-GB" noProof="0"/>
              <a:t>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29800" y="2020359"/>
            <a:ext cx="4500000" cy="4170891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50995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99200" y="432000"/>
            <a:ext cx="5472113" cy="5759250"/>
          </a:xfrm>
          <a:solidFill>
            <a:schemeClr val="tx1">
              <a:lumMod val="75000"/>
              <a:lumOff val="2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n-GB" noProof="0"/>
              <a:t>Insert or Drag &amp; Drop your photo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875314" y="5096632"/>
            <a:ext cx="2028686" cy="1094618"/>
          </a:xfrm>
        </p:spPr>
        <p:txBody>
          <a:bodyPr rtlCol="0" anchor="b"/>
          <a:lstStyle>
            <a:lvl1pPr marL="0" indent="0" algn="r">
              <a:buNone/>
              <a:defRPr i="1">
                <a:solidFill>
                  <a:schemeClr val="tx1"/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Enter your caption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5951D2-91DB-40E7-95D5-4B372602DE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EFF903-F1F3-440A-B12C-9FD51606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GB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877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-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74360" y="2112793"/>
            <a:ext cx="6798250" cy="1674470"/>
          </a:xfrm>
        </p:spPr>
        <p:txBody>
          <a:bodyPr rtlCol="0" anchor="ctr"/>
          <a:lstStyle>
            <a:lvl1pPr algn="ctr">
              <a:lnSpc>
                <a:spcPct val="100000"/>
              </a:lnSpc>
              <a:defRPr sz="6000" b="1" cap="all" spc="-30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en-GB" noProof="0"/>
              <a:t>Thank you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F2950-BBCB-4A53-9EAC-D714777B8FA2}"/>
              </a:ext>
            </a:extLst>
          </p:cNvPr>
          <p:cNvSpPr/>
          <p:nvPr userDrawn="1"/>
        </p:nvSpPr>
        <p:spPr>
          <a:xfrm>
            <a:off x="0" y="6794309"/>
            <a:ext cx="9980476" cy="63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253865-24CF-4EF5-92A5-F64EB9ABC8B7}"/>
              </a:ext>
            </a:extLst>
          </p:cNvPr>
          <p:cNvSpPr/>
          <p:nvPr userDrawn="1"/>
        </p:nvSpPr>
        <p:spPr>
          <a:xfrm>
            <a:off x="0" y="0"/>
            <a:ext cx="9980476" cy="63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E19773-9B6A-4A2C-95A5-69A3788C2D94}"/>
              </a:ext>
            </a:extLst>
          </p:cNvPr>
          <p:cNvSpPr/>
          <p:nvPr userDrawn="1"/>
        </p:nvSpPr>
        <p:spPr>
          <a:xfrm rot="5400000">
            <a:off x="-3378441" y="3410285"/>
            <a:ext cx="6826157" cy="6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A3EFDD3-A9D2-4EB6-BB2A-F6999D9F7E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74361" y="4035727"/>
            <a:ext cx="3329850" cy="382887"/>
          </a:xfrm>
        </p:spPr>
        <p:txBody>
          <a:bodyPr rtlCol="0"/>
          <a:lstStyle>
            <a:lvl1pPr marL="0" indent="0" algn="r">
              <a:buNone/>
              <a:defRPr sz="2400"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Full Name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261ED1F7-B623-43D9-9BDA-8808C5CFAF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62268" y="4150118"/>
            <a:ext cx="2910342" cy="238016"/>
          </a:xfrm>
        </p:spPr>
        <p:txBody>
          <a:bodyPr rtlCol="0"/>
          <a:lstStyle>
            <a:lvl1pPr marL="0" indent="0" algn="l">
              <a:buNone/>
              <a:defRPr sz="1400" i="1"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Phone Number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27366FC-4115-4122-9CE2-5FA9D424AD5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62268" y="4540691"/>
            <a:ext cx="2910342" cy="238016"/>
          </a:xfrm>
        </p:spPr>
        <p:txBody>
          <a:bodyPr rtlCol="0"/>
          <a:lstStyle>
            <a:lvl1pPr marL="0" indent="0" algn="l">
              <a:buNone/>
              <a:defRPr sz="1400" i="1"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Email or Social Media Handle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EB36829-2F8B-4E22-AB6D-4111D18AF8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62268" y="4931263"/>
            <a:ext cx="2910342" cy="238016"/>
          </a:xfrm>
        </p:spPr>
        <p:txBody>
          <a:bodyPr rtlCol="0"/>
          <a:lstStyle>
            <a:lvl1pPr marL="0" indent="0" algn="l">
              <a:buNone/>
              <a:defRPr sz="1400" i="1"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Company Website</a:t>
            </a:r>
          </a:p>
        </p:txBody>
      </p:sp>
    </p:spTree>
    <p:extLst>
      <p:ext uri="{BB962C8B-B14F-4D97-AF65-F5344CB8AC3E}">
        <p14:creationId xmlns:p14="http://schemas.microsoft.com/office/powerpoint/2010/main" val="3189010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E97A9A62-1AA6-47A9-A1A0-5419682374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1" y="1008000"/>
            <a:ext cx="9198116" cy="360000"/>
          </a:xfrm>
        </p:spPr>
        <p:txBody>
          <a:bodyPr rtlCol="0"/>
          <a:lstStyle>
            <a:lvl1pPr marL="0" indent="0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FE0EB3-0FF4-4285-B9D3-90A5751B7B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42953D-28FC-41B5-A1BB-BB3BA7CA40B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94EB5D3-F8CB-4E76-8D7E-FF441818EEC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9198000" cy="360000"/>
          </a:xfrm>
        </p:spPr>
        <p:txBody>
          <a:bodyPr rtlCol="0"/>
          <a:lstStyle>
            <a:lvl1pPr marL="0" indent="0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2000" y="1512000"/>
            <a:ext cx="2916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72900" y="1511476"/>
            <a:ext cx="2916000" cy="4679249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800" y="1511475"/>
            <a:ext cx="2916000" cy="4679250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4BCA97-F31B-451D-82F8-6E000DF2118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17AAC4-A657-4D75-A527-0307AFF2B17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D7ACCB5-9A86-4F46-89E2-B79F48C9EC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9198000" cy="360000"/>
          </a:xfrm>
        </p:spPr>
        <p:txBody>
          <a:bodyPr rtlCol="0"/>
          <a:lstStyle>
            <a:lvl1pPr marL="0" indent="0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2000" y="1512000"/>
            <a:ext cx="1764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290450" y="1512000"/>
            <a:ext cx="1764000" cy="4679250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8900" y="1512000"/>
            <a:ext cx="1764000" cy="4679250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07350" y="1507535"/>
            <a:ext cx="1764000" cy="4679250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65800" y="1507535"/>
            <a:ext cx="1764000" cy="4683715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09234E-176D-4BBF-9391-7B6F018C51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8293F-A5B5-4FCC-BF27-A25B1BAFF245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0727B06-56A8-44A2-B6C2-9ED183D107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1" y="1008000"/>
            <a:ext cx="9198116" cy="360000"/>
          </a:xfrm>
        </p:spPr>
        <p:txBody>
          <a:bodyPr rtlCol="0"/>
          <a:lstStyle>
            <a:lvl1pPr marL="0" indent="0">
              <a:buNone/>
              <a:defRPr i="1">
                <a:latin typeface="+mn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n-GB" noProof="0"/>
              <a:t>Subtitle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CCB8C2-B6A2-4C69-8D3A-57420A034B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01980-CBAE-4A50-886D-54D7BB2E19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DF756E-F310-4229-ACDD-055D299A95FB}"/>
              </a:ext>
            </a:extLst>
          </p:cNvPr>
          <p:cNvSpPr/>
          <p:nvPr userDrawn="1"/>
        </p:nvSpPr>
        <p:spPr>
          <a:xfrm>
            <a:off x="6297105" y="424206"/>
            <a:ext cx="5505254" cy="57314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5951D2-91DB-40E7-95D5-4B372602DE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7666241-4AF6-458A-A571-6C6C291D7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2775" y="3639199"/>
            <a:ext cx="5053936" cy="1192038"/>
          </a:xfrm>
          <a:solidFill>
            <a:schemeClr val="bg1"/>
          </a:solidFill>
        </p:spPr>
        <p:txBody>
          <a:bodyPr lIns="252000" tIns="0" rtlCol="0" anchor="ctr"/>
          <a:lstStyle>
            <a:lvl1pPr marL="0" indent="0" algn="l">
              <a:lnSpc>
                <a:spcPct val="100000"/>
              </a:lnSpc>
              <a:buNone/>
              <a:defRPr sz="18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GB" noProof="0"/>
              <a:t>Click to edit Master subtitle style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4F2BBF-F210-4954-9C73-A0030AACDD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775" y="993303"/>
            <a:ext cx="5053936" cy="2513468"/>
          </a:xfrm>
        </p:spPr>
        <p:txBody>
          <a:bodyPr rtlCol="0"/>
          <a:lstStyle>
            <a:lvl1pPr>
              <a:defRPr sz="5400" cap="none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77791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D1EE834-4B70-4715-8346-1C0298347EE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2000" y="1046375"/>
            <a:ext cx="9198000" cy="5130588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80088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E43F4C-1A64-4197-A44B-E6EB874E243B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32000" y="1046376"/>
            <a:ext cx="4435831" cy="5130588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D7B3F5B8-DC28-4878-AC9F-D434D7542D8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194169" y="1046376"/>
            <a:ext cx="4435831" cy="5130588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4397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B97B01E-88B2-448F-BD96-A1AAFA39AC1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32000" y="1068420"/>
            <a:ext cx="4434840" cy="823912"/>
          </a:xfrm>
          <a:solidFill>
            <a:schemeClr val="tx1"/>
          </a:solidFill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40BADDE2-4EE6-41B4-804C-EBF680128B4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5195160" y="1068420"/>
            <a:ext cx="4434840" cy="823912"/>
          </a:xfrm>
          <a:solidFill>
            <a:schemeClr val="tx1"/>
          </a:solidFill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GB" noProof="0"/>
              <a:t>Edit Master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BB0A14E0-899D-4594-BC9E-AE89BF0D3A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2001" y="2096752"/>
            <a:ext cx="4434840" cy="4092911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2C699014-D902-4E9A-80CD-8D2BCFE67097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5195160" y="2096752"/>
            <a:ext cx="4434840" cy="4092911"/>
          </a:xfrm>
        </p:spPr>
        <p:txBody>
          <a:bodyPr rtlCol="0"/>
          <a:lstStyle/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3468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32000" y="6356350"/>
            <a:ext cx="4114800" cy="365125"/>
          </a:xfrm>
        </p:spPr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C67C685-BABE-4B77-8C5E-B39B093D3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1" y="457200"/>
            <a:ext cx="3159612" cy="1600200"/>
          </a:xfrm>
        </p:spPr>
        <p:txBody>
          <a:bodyPr rtlCol="0" anchor="b"/>
          <a:lstStyle>
            <a:lvl1pPr>
              <a:defRPr sz="2800"/>
            </a:lvl1pPr>
          </a:lstStyle>
          <a:p>
            <a:pPr rtl="0"/>
            <a:r>
              <a:rPr lang="en-GB" noProof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B6B7795-36CC-459B-AE8B-7FB2F40AF37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32001" y="2057400"/>
            <a:ext cx="3159612" cy="4126584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F53EF1-D412-467C-B7CE-30536F140AE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70722" y="457201"/>
            <a:ext cx="6023727" cy="5726784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GB" noProof="0"/>
              <a:t>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20005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432000" y="6356350"/>
            <a:ext cx="4114800" cy="365125"/>
          </a:xfrm>
        </p:spPr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C67C685-BABE-4B77-8C5E-B39B093D3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1" y="457200"/>
            <a:ext cx="3159612" cy="1600200"/>
          </a:xfrm>
        </p:spPr>
        <p:txBody>
          <a:bodyPr rtlCol="0" anchor="b"/>
          <a:lstStyle>
            <a:lvl1pPr>
              <a:defRPr sz="2800"/>
            </a:lvl1pPr>
          </a:lstStyle>
          <a:p>
            <a:pPr rtl="0"/>
            <a:r>
              <a:rPr lang="en-GB" noProof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B6B7795-36CC-459B-AE8B-7FB2F40AF37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32001" y="2057400"/>
            <a:ext cx="3159612" cy="4126584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GB" noProof="0"/>
              <a:t>Edit Master text styles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10319378-269C-406E-9B84-FCF22DA02E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88021" y="457201"/>
            <a:ext cx="5949868" cy="5726784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GB" noProof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02147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9198000" cy="432000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D237A-BD90-4D90-B328-7F1A502A266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37796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6D0504D-4610-4E9E-A2DB-8B701F044BB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en-GB" noProof="0"/>
              <a:t>Add a footer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10D190-B83D-438A-91BC-470C41B22A2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3976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2C8D0EF-1DB6-4ADC-8F31-5AE53BF5EAF4}"/>
              </a:ext>
            </a:extLst>
          </p:cNvPr>
          <p:cNvSpPr/>
          <p:nvPr userDrawn="1"/>
        </p:nvSpPr>
        <p:spPr>
          <a:xfrm>
            <a:off x="69274" y="66963"/>
            <a:ext cx="9911201" cy="6727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F208ED-79A0-4B2C-A5EE-9D27466BCA3F}"/>
              </a:ext>
            </a:extLst>
          </p:cNvPr>
          <p:cNvSpPr/>
          <p:nvPr userDrawn="1"/>
        </p:nvSpPr>
        <p:spPr>
          <a:xfrm>
            <a:off x="11407775" y="6356350"/>
            <a:ext cx="784225" cy="3651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9198116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en-GB" noProof="0"/>
              <a:t>Click to edit page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2000"/>
            <a:ext cx="9198116" cy="467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56350"/>
            <a:ext cx="411480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i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n-GB" noProof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47502" y="6401750"/>
            <a:ext cx="278418" cy="27432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 i="1">
                <a:solidFill>
                  <a:schemeClr val="bg1"/>
                </a:solidFill>
              </a:defRPr>
            </a:lvl1pPr>
          </a:lstStyle>
          <a:p>
            <a:pPr rtl="0"/>
            <a:fld id="{19B51A1E-902D-48AF-9020-955120F399B6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DC6F9-37F9-4E25-AECA-D307B8421C73}"/>
              </a:ext>
            </a:extLst>
          </p:cNvPr>
          <p:cNvSpPr txBox="1"/>
          <p:nvPr userDrawn="1"/>
        </p:nvSpPr>
        <p:spPr>
          <a:xfrm>
            <a:off x="9630116" y="6346108"/>
            <a:ext cx="1662546" cy="404658"/>
          </a:xfrm>
          <a:prstGeom prst="rect">
            <a:avLst/>
          </a:prstGeom>
          <a:noFill/>
        </p:spPr>
        <p:txBody>
          <a:bodyPr wrap="square" lIns="0" tIns="36000" rIns="0" bIns="0" rtlCol="0">
            <a:spAutoFit/>
          </a:bodyPr>
          <a:lstStyle/>
          <a:p>
            <a:pPr algn="r" rtl="0">
              <a:lnSpc>
                <a:spcPts val="1400"/>
              </a:lnSpc>
            </a:pPr>
            <a:r>
              <a:rPr lang="en-GB" sz="1600" b="1" spc="-100" noProof="0">
                <a:solidFill>
                  <a:schemeClr val="tx1">
                    <a:lumMod val="50000"/>
                    <a:lumOff val="50000"/>
                  </a:schemeClr>
                </a:solidFill>
                <a:latin typeface="Corbel" panose="020B0503020204020204" pitchFamily="34" charset="0"/>
              </a:rPr>
              <a:t>WOODGROVE</a:t>
            </a:r>
            <a:r>
              <a:rPr lang="en-GB" sz="1600" b="1" spc="-100" noProof="0">
                <a:solidFill>
                  <a:schemeClr val="accent1"/>
                </a:solidFill>
                <a:latin typeface="Corbel" panose="020B0503020204020204" pitchFamily="34" charset="0"/>
              </a:rPr>
              <a:t> </a:t>
            </a:r>
            <a:r>
              <a:rPr lang="en-GB" sz="1600" b="1" spc="-100" noProof="0">
                <a:solidFill>
                  <a:schemeClr val="tx1"/>
                </a:solidFill>
                <a:latin typeface="Corbel" panose="020B0503020204020204" pitchFamily="34" charset="0"/>
              </a:rPr>
              <a:t>BANK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322F68-670D-45A0-A54F-7E70BCEAED3F}"/>
              </a:ext>
            </a:extLst>
          </p:cNvPr>
          <p:cNvSpPr/>
          <p:nvPr userDrawn="1"/>
        </p:nvSpPr>
        <p:spPr>
          <a:xfrm>
            <a:off x="0" y="6794309"/>
            <a:ext cx="9980476" cy="63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9B5F15-353A-4344-8D61-F4E25AA9FB6C}"/>
              </a:ext>
            </a:extLst>
          </p:cNvPr>
          <p:cNvSpPr/>
          <p:nvPr userDrawn="1"/>
        </p:nvSpPr>
        <p:spPr>
          <a:xfrm>
            <a:off x="0" y="0"/>
            <a:ext cx="9980476" cy="6369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A0C0AA-FCE8-4A7F-928A-54C96BBA9053}"/>
              </a:ext>
            </a:extLst>
          </p:cNvPr>
          <p:cNvSpPr/>
          <p:nvPr userDrawn="1"/>
        </p:nvSpPr>
        <p:spPr>
          <a:xfrm rot="5400000">
            <a:off x="-3378441" y="3410285"/>
            <a:ext cx="6826157" cy="6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8" r:id="rId4"/>
    <p:sldLayoutId id="2147483665" r:id="rId5"/>
    <p:sldLayoutId id="2147483659" r:id="rId6"/>
    <p:sldLayoutId id="2147483660" r:id="rId7"/>
    <p:sldLayoutId id="2147483664" r:id="rId8"/>
    <p:sldLayoutId id="2147483650" r:id="rId9"/>
    <p:sldLayoutId id="2147483656" r:id="rId10"/>
    <p:sldLayoutId id="2147483657" r:id="rId11"/>
    <p:sldLayoutId id="2147483654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55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2F2BFDF-E9F2-4569-A9F2-E1FFCB7FB82D}"/>
              </a:ext>
            </a:extLst>
          </p:cNvPr>
          <p:cNvSpPr txBox="1"/>
          <p:nvPr/>
        </p:nvSpPr>
        <p:spPr>
          <a:xfrm>
            <a:off x="5205663" y="3941638"/>
            <a:ext cx="1879577" cy="404658"/>
          </a:xfrm>
          <a:prstGeom prst="rect">
            <a:avLst/>
          </a:prstGeom>
          <a:noFill/>
        </p:spPr>
        <p:txBody>
          <a:bodyPr wrap="square" lIns="0" tIns="36000" rIns="0" bIns="0" rtlCol="0">
            <a:spAutoFit/>
          </a:bodyPr>
          <a:lstStyle/>
          <a:p>
            <a:pPr algn="r" rtl="0">
              <a:lnSpc>
                <a:spcPts val="1400"/>
              </a:lnSpc>
            </a:pPr>
            <a:r>
              <a:rPr lang="en-GB" sz="1600" b="1" spc="-100" dirty="0">
                <a:solidFill>
                  <a:schemeClr val="tx1">
                    <a:lumMod val="50000"/>
                    <a:lumOff val="50000"/>
                  </a:schemeClr>
                </a:solidFill>
                <a:latin typeface="Corbel" panose="020B0503020204020204" pitchFamily="34" charset="0"/>
              </a:rPr>
              <a:t>POUR </a:t>
            </a:r>
            <a:br>
              <a:rPr lang="en-GB" sz="1600" b="1" spc="-100" dirty="0">
                <a:solidFill>
                  <a:schemeClr val="accent1"/>
                </a:solidFill>
                <a:latin typeface="Corbel" panose="020B0503020204020204" pitchFamily="34" charset="0"/>
              </a:rPr>
            </a:br>
            <a:r>
              <a:rPr lang="en-GB" sz="1600" b="1" spc="-100" dirty="0">
                <a:latin typeface="Corbel" panose="020B0503020204020204" pitchFamily="34" charset="0"/>
              </a:rPr>
              <a:t>TECHSUD</a:t>
            </a:r>
            <a:endParaRPr lang="en-GB" sz="1600" b="1" spc="-100" dirty="0">
              <a:solidFill>
                <a:schemeClr val="tx1"/>
              </a:solidFill>
              <a:latin typeface="Corbel" panose="020B050302020402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en-GB" dirty="0"/>
              <a:t>Presentation AEGIS PROJECT 0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en-GB" dirty="0"/>
              <a:t>Lorem20</a:t>
            </a:r>
          </a:p>
        </p:txBody>
      </p:sp>
    </p:spTree>
    <p:extLst>
      <p:ext uri="{BB962C8B-B14F-4D97-AF65-F5344CB8AC3E}">
        <p14:creationId xmlns:p14="http://schemas.microsoft.com/office/powerpoint/2010/main" val="3899961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4190260" y="-101417"/>
            <a:ext cx="6798250" cy="1674470"/>
          </a:xfrm>
        </p:spPr>
        <p:txBody>
          <a:bodyPr rtlCol="0"/>
          <a:lstStyle/>
          <a:p>
            <a:pPr rtl="0"/>
            <a:r>
              <a:rPr lang="fr-FR" dirty="0"/>
              <a:t>P</a:t>
            </a:r>
            <a:r>
              <a:rPr lang="en-GB" dirty="0"/>
              <a:t>LAN :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6746" y="2090218"/>
            <a:ext cx="8510990" cy="4200853"/>
          </a:xfrm>
        </p:spPr>
        <p:txBody>
          <a:bodyPr rtlCol="0"/>
          <a:lstStyle/>
          <a:p>
            <a:pPr rtl="0"/>
            <a:r>
              <a:rPr lang="fr-FR" sz="3000" dirty="0"/>
              <a:t>1- Contextualisation </a:t>
            </a:r>
          </a:p>
          <a:p>
            <a:pPr rtl="0"/>
            <a:r>
              <a:rPr lang="fr-FR" sz="3000" dirty="0"/>
              <a:t>2 - Deploiement d’une infrastructure propre </a:t>
            </a:r>
          </a:p>
          <a:p>
            <a:r>
              <a:rPr lang="fr-FR" sz="3000" dirty="0"/>
              <a:t>3 - Durcissement  du système </a:t>
            </a:r>
          </a:p>
          <a:p>
            <a:r>
              <a:rPr lang="fr-FR" sz="3000" dirty="0"/>
              <a:t>4 - Script Py, automatisation  </a:t>
            </a:r>
          </a:p>
          <a:p>
            <a:r>
              <a:rPr lang="fr-FR" sz="3000" dirty="0"/>
              <a:t>5 - Conclusion</a:t>
            </a:r>
            <a:endParaRPr lang="en-GB" sz="3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n-GB" smtClean="0"/>
              <a:pPr/>
              <a:t>2</a:t>
            </a:fld>
            <a:endParaRPr lang="en-GB"/>
          </a:p>
        </p:txBody>
      </p:sp>
      <p:pic>
        <p:nvPicPr>
          <p:cNvPr id="6" name="Picture 5" descr="hackerman #mainframe #memeframemonday | Niall A.">
            <a:extLst>
              <a:ext uri="{FF2B5EF4-FFF2-40B4-BE49-F238E27FC236}">
                <a16:creationId xmlns:a16="http://schemas.microsoft.com/office/drawing/2014/main" id="{D4DA54EA-7146-DB6E-382B-6821B0B6A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3806" y="1"/>
            <a:ext cx="21426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674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mazon.com - Hackerman -Mr Robot Sticker Vinyl Waterproof Sticker Decal Car  Laptop Wall Window Bumper Sticker 5&quot;">
            <a:extLst>
              <a:ext uri="{FF2B5EF4-FFF2-40B4-BE49-F238E27FC236}">
                <a16:creationId xmlns:a16="http://schemas.microsoft.com/office/drawing/2014/main" id="{0A79B64E-2D99-6E0D-F104-DD3E64A322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38000" contrast="70000"/>
                    </a14:imgEffect>
                  </a14:imgLayer>
                </a14:imgProps>
              </a:ext>
            </a:extLst>
          </a:blip>
          <a:srcRect l="37126" r="30627"/>
          <a:stretch>
            <a:fillRect/>
          </a:stretch>
        </p:blipFill>
        <p:spPr>
          <a:xfrm>
            <a:off x="9980476" y="10"/>
            <a:ext cx="2211524" cy="6857990"/>
          </a:xfrm>
          <a:prstGeom prst="rect">
            <a:avLst/>
          </a:prstGeom>
          <a:noFill/>
          <a:scene3d>
            <a:camera prst="orthographicFront">
              <a:rot lat="0" lon="300002" rev="0"/>
            </a:camera>
            <a:lightRig rig="threePt" dir="t"/>
          </a:scene3d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08D2E0C1-82E1-72E1-B7E4-E4B55BF92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61743" y="-462771"/>
            <a:ext cx="7951076" cy="1674470"/>
          </a:xfrm>
        </p:spPr>
        <p:txBody>
          <a:bodyPr anchor="b">
            <a:normAutofit/>
          </a:bodyPr>
          <a:lstStyle/>
          <a:p>
            <a:r>
              <a:rPr lang="fr-FR" dirty="0"/>
              <a:t>Contextualisation</a:t>
            </a:r>
            <a:endParaRPr lang="en-GB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0999" y="1388535"/>
            <a:ext cx="9347200" cy="5156199"/>
          </a:xfrm>
        </p:spPr>
        <p:txBody>
          <a:bodyPr numCol="1" rtlCol="0" anchor="ctr">
            <a:normAutofit/>
          </a:bodyPr>
          <a:lstStyle/>
          <a:p>
            <a:pPr rtl="0"/>
            <a:endParaRPr lang="fr-FR" dirty="0"/>
          </a:p>
          <a:p>
            <a:pPr rtl="0"/>
            <a:r>
              <a:rPr lang="fr-FR" dirty="0" err="1"/>
              <a:t>TechSud</a:t>
            </a:r>
            <a:r>
              <a:rPr lang="fr-FR" dirty="0"/>
              <a:t> – Incident de cybersécurité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PME de 30 employés 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Infrastructure critique pour l’activité 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Serveur critique pour l’activité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Cyberattaque détectée </a:t>
            </a:r>
          </a:p>
          <a:p>
            <a:pPr marL="285750" indent="-285750" rtl="0">
              <a:buFontTx/>
              <a:buChar char="-"/>
            </a:pPr>
            <a:endParaRPr lang="fr-FR" dirty="0"/>
          </a:p>
          <a:p>
            <a:pPr rtl="0"/>
            <a:r>
              <a:rPr lang="fr-FR" dirty="0"/>
              <a:t>Mission :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1. Analyser l’incident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2. Restaurer l’infrastructure </a:t>
            </a:r>
          </a:p>
          <a:p>
            <a:pPr marL="285750" indent="-285750" rtl="0">
              <a:buFontTx/>
              <a:buChar char="-"/>
            </a:pPr>
            <a:r>
              <a:rPr lang="fr-FR" dirty="0"/>
              <a:t>3. Renforcer la sécurité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Objectif : garantir une infrastructure sécurisée et fiable</a:t>
            </a:r>
          </a:p>
          <a:p>
            <a:pPr marL="285750" indent="-285750" rtl="0">
              <a:buFontTx/>
              <a:buChar char="-"/>
            </a:pPr>
            <a:endParaRPr lang="fr-FR" dirty="0"/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F6964141-6F81-4947-A236-746D94ED3F6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7502" y="6401750"/>
            <a:ext cx="278418" cy="274324"/>
          </a:xfrm>
        </p:spPr>
        <p:txBody>
          <a:bodyPr rtlCol="0"/>
          <a:lstStyle/>
          <a:p>
            <a:pPr rtl="0">
              <a:spcAft>
                <a:spcPts val="600"/>
              </a:spcAft>
            </a:pPr>
            <a:fld id="{19B51A1E-902D-48AF-9020-955120F399B6}" type="slidenum">
              <a:rPr lang="en-GB" smtClean="0"/>
              <a:pPr rtl="0">
                <a:spcAft>
                  <a:spcPts val="600"/>
                </a:spcAft>
              </a:pPr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695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ark, Hacker and Portrait of Man with Laptop for Online Fraud,  Cybersecurity Threat and Data Breach. Studio, Thief and Stock Image - Image  of tech, portrait: 444420649">
            <a:extLst>
              <a:ext uri="{FF2B5EF4-FFF2-40B4-BE49-F238E27FC236}">
                <a16:creationId xmlns:a16="http://schemas.microsoft.com/office/drawing/2014/main" id="{10FC94A6-F9FB-2663-2287-7EC09ADA72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68" r="21964"/>
          <a:stretch>
            <a:fillRect/>
          </a:stretch>
        </p:blipFill>
        <p:spPr>
          <a:xfrm>
            <a:off x="9980476" y="10"/>
            <a:ext cx="2211524" cy="6857990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A5083B-CC27-4F1C-AD03-E3DBEC1C9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86" y="1807950"/>
            <a:ext cx="5184913" cy="432000"/>
          </a:xfrm>
        </p:spPr>
        <p:txBody>
          <a:bodyPr rtlCol="0" anchor="ctr">
            <a:normAutofit fontScale="90000"/>
          </a:bodyPr>
          <a:lstStyle/>
          <a:p>
            <a:r>
              <a:rPr lang="fr-FR" sz="3000" dirty="0"/>
              <a:t>D</a:t>
            </a:r>
            <a:r>
              <a:rPr lang="en-GB" sz="3000" dirty="0"/>
              <a:t>EPLOIEMENT D’UNE INFRASTRUCTUR PROPRE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5E40B9-054F-4D79-BD17-68E71C740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45000" y="2908300"/>
            <a:ext cx="5184800" cy="3283700"/>
          </a:xfrm>
        </p:spPr>
        <p:txBody>
          <a:bodyPr rtlCol="0">
            <a:normAutofit/>
          </a:bodyPr>
          <a:lstStyle/>
          <a:p>
            <a:r>
              <a:rPr lang="en-GB" dirty="0" err="1"/>
              <a:t>Remplacement</a:t>
            </a:r>
            <a:r>
              <a:rPr lang="en-GB" dirty="0"/>
              <a:t> du </a:t>
            </a:r>
            <a:r>
              <a:rPr lang="en-GB" dirty="0" err="1"/>
              <a:t>serveur</a:t>
            </a:r>
            <a:r>
              <a:rPr lang="en-GB" dirty="0"/>
              <a:t> </a:t>
            </a:r>
            <a:r>
              <a:rPr lang="en-GB" dirty="0" err="1"/>
              <a:t>compromis</a:t>
            </a:r>
            <a:endParaRPr lang="en-GB" dirty="0"/>
          </a:p>
          <a:p>
            <a:r>
              <a:rPr lang="en-GB" dirty="0"/>
              <a:t>Nouvelle machine </a:t>
            </a:r>
            <a:r>
              <a:rPr lang="en-GB" dirty="0" err="1"/>
              <a:t>virtuelle</a:t>
            </a:r>
            <a:r>
              <a:rPr lang="en-GB" dirty="0"/>
              <a:t> Linux (Debian)</a:t>
            </a:r>
          </a:p>
          <a:p>
            <a:r>
              <a:rPr lang="en-GB" dirty="0"/>
              <a:t>Reconstruction sur </a:t>
            </a:r>
            <a:r>
              <a:rPr lang="en-GB" dirty="0" err="1"/>
              <a:t>une</a:t>
            </a:r>
            <a:r>
              <a:rPr lang="en-GB" dirty="0"/>
              <a:t> base saine</a:t>
            </a:r>
          </a:p>
          <a:p>
            <a:r>
              <a:rPr lang="en-GB" dirty="0"/>
              <a:t>Suppression des </a:t>
            </a:r>
            <a:r>
              <a:rPr lang="en-GB" dirty="0" err="1"/>
              <a:t>risques</a:t>
            </a:r>
            <a:r>
              <a:rPr lang="en-GB" dirty="0"/>
              <a:t> </a:t>
            </a:r>
            <a:r>
              <a:rPr lang="en-GB" dirty="0" err="1"/>
              <a:t>liés</a:t>
            </a:r>
            <a:r>
              <a:rPr lang="en-GB" dirty="0"/>
              <a:t> à l’ancienne infrastructure</a:t>
            </a:r>
          </a:p>
          <a:p>
            <a:r>
              <a:rPr lang="en-GB" dirty="0"/>
              <a:t>Configuration </a:t>
            </a:r>
            <a:r>
              <a:rPr lang="en-GB" dirty="0" err="1"/>
              <a:t>sécurisée</a:t>
            </a:r>
            <a:r>
              <a:rPr lang="en-GB" dirty="0"/>
              <a:t> </a:t>
            </a:r>
            <a:r>
              <a:rPr lang="en-GB" dirty="0" err="1"/>
              <a:t>dès</a:t>
            </a:r>
            <a:r>
              <a:rPr lang="en-GB" dirty="0"/>
              <a:t> le </a:t>
            </a:r>
            <a:r>
              <a:rPr lang="en-GB" dirty="0" err="1"/>
              <a:t>départ</a:t>
            </a:r>
            <a:endParaRPr lang="en-GB" dirty="0"/>
          </a:p>
          <a:p>
            <a:r>
              <a:rPr lang="en-GB" dirty="0"/>
              <a:t>Objectif : </a:t>
            </a:r>
            <a:r>
              <a:rPr lang="en-GB" dirty="0" err="1"/>
              <a:t>repartir</a:t>
            </a:r>
            <a:r>
              <a:rPr lang="en-GB" dirty="0"/>
              <a:t> avec un </a:t>
            </a:r>
            <a:r>
              <a:rPr lang="en-GB" dirty="0" err="1"/>
              <a:t>environnement</a:t>
            </a:r>
            <a:r>
              <a:rPr lang="en-GB" dirty="0"/>
              <a:t> </a:t>
            </a:r>
            <a:r>
              <a:rPr lang="en-GB" dirty="0" err="1"/>
              <a:t>fiable</a:t>
            </a:r>
            <a:r>
              <a:rPr lang="en-GB" dirty="0"/>
              <a:t> et protégé</a:t>
            </a:r>
          </a:p>
        </p:txBody>
      </p:sp>
    </p:spTree>
    <p:extLst>
      <p:ext uri="{BB962C8B-B14F-4D97-AF65-F5344CB8AC3E}">
        <p14:creationId xmlns:p14="http://schemas.microsoft.com/office/powerpoint/2010/main" val="3640701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9198000" cy="432000"/>
          </a:xfrm>
        </p:spPr>
        <p:txBody>
          <a:bodyPr rtlCol="0" anchor="ctr">
            <a:normAutofit/>
          </a:bodyPr>
          <a:lstStyle/>
          <a:p>
            <a:pPr rtl="0"/>
            <a:r>
              <a:rPr lang="fr-FR" sz="3000" dirty="0"/>
              <a:t>D</a:t>
            </a:r>
            <a:r>
              <a:rPr lang="en-GB" sz="3000" dirty="0"/>
              <a:t>EPLOIEMENT D’UNE INFRASTRUCTUR PROPRE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2E9BA3A0-057F-A836-F0E1-058D6FFE7E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32000" y="1272840"/>
            <a:ext cx="4434840" cy="823912"/>
          </a:xfrm>
        </p:spPr>
        <p:txBody>
          <a:bodyPr/>
          <a:lstStyle/>
          <a:p>
            <a:pPr algn="ctr"/>
            <a:r>
              <a:rPr lang="en-GB" dirty="0" err="1"/>
              <a:t>Durcissement</a:t>
            </a:r>
            <a:r>
              <a:rPr lang="en-US" dirty="0"/>
              <a:t> du </a:t>
            </a:r>
            <a:r>
              <a:rPr lang="en-US" dirty="0" err="1"/>
              <a:t>système</a:t>
            </a:r>
            <a:endParaRPr lang="en-US" dirty="0"/>
          </a:p>
        </p:txBody>
      </p:sp>
      <p:pic>
        <p:nvPicPr>
          <p:cNvPr id="8" name="Picture 7" descr="Understanding the Mind of a Hacker - Cyber Security">
            <a:extLst>
              <a:ext uri="{FF2B5EF4-FFF2-40B4-BE49-F238E27FC236}">
                <a16:creationId xmlns:a16="http://schemas.microsoft.com/office/drawing/2014/main" id="{31C0E114-90E0-8672-F6E3-87EC556D6F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24" r="31402"/>
          <a:stretch>
            <a:fillRect/>
          </a:stretch>
        </p:blipFill>
        <p:spPr>
          <a:xfrm>
            <a:off x="9990667" y="-51913"/>
            <a:ext cx="2201334" cy="6909913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813580" y="2333089"/>
            <a:ext cx="4434840" cy="4092911"/>
          </a:xfrm>
        </p:spPr>
        <p:txBody>
          <a:bodyPr rtlCol="0">
            <a:normAutofit/>
          </a:bodyPr>
          <a:lstStyle/>
          <a:p>
            <a:r>
              <a:rPr lang="en-GB" dirty="0" err="1"/>
              <a:t>Sécurisation</a:t>
            </a:r>
            <a:r>
              <a:rPr lang="en-GB" dirty="0"/>
              <a:t> des </a:t>
            </a:r>
            <a:r>
              <a:rPr lang="en-GB" dirty="0" err="1"/>
              <a:t>comptes</a:t>
            </a:r>
            <a:r>
              <a:rPr lang="en-GB" dirty="0"/>
              <a:t> </a:t>
            </a:r>
            <a:r>
              <a:rPr lang="en-GB" dirty="0" err="1"/>
              <a:t>utilisateurs</a:t>
            </a:r>
            <a:endParaRPr lang="en-GB" dirty="0"/>
          </a:p>
          <a:p>
            <a:r>
              <a:rPr lang="en-GB" dirty="0"/>
              <a:t>Gestion </a:t>
            </a:r>
            <a:r>
              <a:rPr lang="en-GB" dirty="0" err="1"/>
              <a:t>stricte</a:t>
            </a:r>
            <a:r>
              <a:rPr lang="en-GB" dirty="0"/>
              <a:t> des droits </a:t>
            </a:r>
            <a:r>
              <a:rPr lang="en-GB" dirty="0" err="1"/>
              <a:t>d’accès</a:t>
            </a:r>
            <a:endParaRPr lang="en-GB" dirty="0"/>
          </a:p>
          <a:p>
            <a:r>
              <a:rPr lang="en-GB" dirty="0"/>
              <a:t>Connexion SSH </a:t>
            </a:r>
            <a:r>
              <a:rPr lang="en-GB" dirty="0" err="1"/>
              <a:t>sécurisée</a:t>
            </a:r>
            <a:endParaRPr lang="en-GB" dirty="0"/>
          </a:p>
          <a:p>
            <a:pPr lvl="1"/>
            <a:r>
              <a:rPr lang="en-GB" dirty="0" err="1"/>
              <a:t>Authentification</a:t>
            </a:r>
            <a:r>
              <a:rPr lang="en-GB" dirty="0"/>
              <a:t> par </a:t>
            </a:r>
            <a:r>
              <a:rPr lang="en-GB" dirty="0" err="1"/>
              <a:t>clé</a:t>
            </a:r>
            <a:r>
              <a:rPr lang="en-GB" dirty="0"/>
              <a:t> </a:t>
            </a:r>
            <a:r>
              <a:rPr lang="en-GB" dirty="0" err="1"/>
              <a:t>uniquement</a:t>
            </a:r>
            <a:endParaRPr lang="en-GB" dirty="0"/>
          </a:p>
          <a:p>
            <a:pPr lvl="1"/>
            <a:r>
              <a:rPr lang="en-GB" dirty="0" err="1"/>
              <a:t>Désactivation</a:t>
            </a:r>
            <a:r>
              <a:rPr lang="en-GB" dirty="0"/>
              <a:t> du compte root</a:t>
            </a:r>
          </a:p>
          <a:p>
            <a:pPr lvl="1"/>
            <a:r>
              <a:rPr lang="en-GB" dirty="0"/>
              <a:t>Interdiction des connexions par mot de passe</a:t>
            </a:r>
          </a:p>
          <a:p>
            <a:r>
              <a:rPr lang="en-GB" dirty="0"/>
              <a:t>Configuration du pare-feu avec UFW</a:t>
            </a:r>
          </a:p>
          <a:p>
            <a:pPr lvl="1"/>
            <a:r>
              <a:rPr lang="en-GB" dirty="0" err="1"/>
              <a:t>Autorisation</a:t>
            </a:r>
            <a:r>
              <a:rPr lang="en-GB" dirty="0"/>
              <a:t> des services </a:t>
            </a:r>
            <a:r>
              <a:rPr lang="en-GB" dirty="0" err="1"/>
              <a:t>nécessaires</a:t>
            </a:r>
            <a:r>
              <a:rPr lang="en-GB" dirty="0"/>
              <a:t> </a:t>
            </a:r>
            <a:r>
              <a:rPr lang="en-GB" dirty="0" err="1"/>
              <a:t>uniquement</a:t>
            </a:r>
            <a:endParaRPr lang="en-GB" dirty="0"/>
          </a:p>
          <a:p>
            <a:r>
              <a:rPr lang="en-GB" dirty="0" err="1"/>
              <a:t>Désactivation</a:t>
            </a:r>
            <a:r>
              <a:rPr lang="en-GB" dirty="0"/>
              <a:t> des services </a:t>
            </a:r>
            <a:r>
              <a:rPr lang="en-GB" dirty="0" err="1"/>
              <a:t>inutiles</a:t>
            </a:r>
            <a:endParaRPr lang="en-GB" dirty="0"/>
          </a:p>
          <a:p>
            <a:r>
              <a:rPr lang="en-GB" dirty="0"/>
              <a:t>Fail2ban anti brut force</a:t>
            </a:r>
          </a:p>
          <a:p>
            <a:r>
              <a:rPr lang="en-GB" dirty="0"/>
              <a:t>Objectif : </a:t>
            </a:r>
            <a:r>
              <a:rPr lang="en-GB" dirty="0" err="1"/>
              <a:t>réduire</a:t>
            </a:r>
            <a:r>
              <a:rPr lang="en-GB" dirty="0"/>
              <a:t> les </a:t>
            </a:r>
            <a:r>
              <a:rPr lang="en-GB" dirty="0" err="1"/>
              <a:t>risques</a:t>
            </a:r>
            <a:r>
              <a:rPr lang="en-GB" dirty="0"/>
              <a:t> et </a:t>
            </a:r>
            <a:r>
              <a:rPr lang="en-GB" dirty="0" err="1"/>
              <a:t>renforcer</a:t>
            </a:r>
            <a:r>
              <a:rPr lang="en-GB" dirty="0"/>
              <a:t> la sécurité du </a:t>
            </a:r>
            <a:r>
              <a:rPr lang="en-GB" dirty="0" err="1"/>
              <a:t>serveur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9746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Top 5 Most Notorious Computer Hackers - TechEBlog">
            <a:extLst>
              <a:ext uri="{FF2B5EF4-FFF2-40B4-BE49-F238E27FC236}">
                <a16:creationId xmlns:a16="http://schemas.microsoft.com/office/drawing/2014/main" id="{17F4F9DA-8794-924F-8E32-792B70B5B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636" y="-19364"/>
            <a:ext cx="2202363" cy="68773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S</a:t>
            </a:r>
            <a:r>
              <a:rPr lang="en-GB" dirty="0"/>
              <a:t>CRIPT PYTHON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EB3BAE-C0B2-447C-B8BE-96C6BD84D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169000"/>
            <a:ext cx="4500000" cy="2520000"/>
          </a:xfrm>
        </p:spPr>
        <p:txBody>
          <a:bodyPr rtlCol="0"/>
          <a:lstStyle/>
          <a:p>
            <a:r>
              <a:rPr lang="en-GB" b="1" dirty="0" err="1">
                <a:solidFill>
                  <a:schemeClr val="tx1"/>
                </a:solidFill>
              </a:rPr>
              <a:t>Détection</a:t>
            </a:r>
            <a:r>
              <a:rPr lang="en-GB" b="1" dirty="0">
                <a:solidFill>
                  <a:schemeClr val="tx1"/>
                </a:solidFill>
              </a:rPr>
              <a:t> des anomalies</a:t>
            </a:r>
          </a:p>
          <a:p>
            <a:r>
              <a:rPr lang="en-GB" b="1" dirty="0" err="1">
                <a:solidFill>
                  <a:schemeClr val="tx1"/>
                </a:solidFill>
              </a:rPr>
              <a:t>Génération</a:t>
            </a:r>
            <a:r>
              <a:rPr lang="en-GB" b="1" dirty="0">
                <a:solidFill>
                  <a:schemeClr val="tx1"/>
                </a:solidFill>
              </a:rPr>
              <a:t> d’un état </a:t>
            </a:r>
            <a:r>
              <a:rPr lang="en-GB" b="1" dirty="0" err="1">
                <a:solidFill>
                  <a:schemeClr val="tx1"/>
                </a:solidFill>
              </a:rPr>
              <a:t>clair</a:t>
            </a:r>
            <a:r>
              <a:rPr lang="en-GB" b="1" dirty="0">
                <a:solidFill>
                  <a:schemeClr val="tx1"/>
                </a:solidFill>
              </a:rPr>
              <a:t> : </a:t>
            </a:r>
            <a:r>
              <a:rPr lang="en-GB" b="1" dirty="0" err="1">
                <a:solidFill>
                  <a:schemeClr val="tx1"/>
                </a:solidFill>
              </a:rPr>
              <a:t>conforme</a:t>
            </a:r>
            <a:r>
              <a:rPr lang="en-GB" b="1" dirty="0">
                <a:solidFill>
                  <a:schemeClr val="tx1"/>
                </a:solidFill>
              </a:rPr>
              <a:t> / non </a:t>
            </a:r>
            <a:r>
              <a:rPr lang="en-GB" b="1" dirty="0" err="1">
                <a:solidFill>
                  <a:schemeClr val="tx1"/>
                </a:solidFill>
              </a:rPr>
              <a:t>conforme</a:t>
            </a:r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Objectif : simplifier les </a:t>
            </a:r>
            <a:r>
              <a:rPr lang="en-GB" b="1" dirty="0" err="1">
                <a:solidFill>
                  <a:schemeClr val="tx1"/>
                </a:solidFill>
              </a:rPr>
              <a:t>vérifications</a:t>
            </a:r>
            <a:r>
              <a:rPr lang="en-GB" b="1" dirty="0">
                <a:solidFill>
                  <a:schemeClr val="tx1"/>
                </a:solidFill>
              </a:rPr>
              <a:t> et </a:t>
            </a:r>
            <a:r>
              <a:rPr lang="en-GB" b="1" dirty="0" err="1">
                <a:solidFill>
                  <a:schemeClr val="tx1"/>
                </a:solidFill>
              </a:rPr>
              <a:t>éviter</a:t>
            </a:r>
            <a:r>
              <a:rPr lang="en-GB" b="1" dirty="0">
                <a:solidFill>
                  <a:schemeClr val="tx1"/>
                </a:solidFill>
              </a:rPr>
              <a:t> les </a:t>
            </a:r>
            <a:r>
              <a:rPr lang="en-GB" b="1" dirty="0" err="1">
                <a:solidFill>
                  <a:schemeClr val="tx1"/>
                </a:solidFill>
              </a:rPr>
              <a:t>contrôles</a:t>
            </a:r>
            <a:r>
              <a:rPr lang="en-GB" b="1" dirty="0">
                <a:solidFill>
                  <a:schemeClr val="tx1"/>
                </a:solidFill>
              </a:rPr>
              <a:t> </a:t>
            </a:r>
            <a:r>
              <a:rPr lang="en-GB" b="1" dirty="0" err="1">
                <a:solidFill>
                  <a:schemeClr val="tx1"/>
                </a:solidFill>
              </a:rPr>
              <a:t>manuels</a:t>
            </a:r>
            <a:endParaRPr lang="en-GB" b="1" dirty="0">
              <a:solidFill>
                <a:schemeClr val="tx1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10818" y="2169000"/>
            <a:ext cx="4500000" cy="2520000"/>
          </a:xfrm>
        </p:spPr>
        <p:txBody>
          <a:bodyPr rtlCol="0"/>
          <a:lstStyle/>
          <a:p>
            <a:r>
              <a:rPr lang="en-GB" b="1" dirty="0" err="1"/>
              <a:t>Automatisation</a:t>
            </a:r>
            <a:r>
              <a:rPr lang="en-GB" b="1" dirty="0"/>
              <a:t> de </a:t>
            </a:r>
            <a:r>
              <a:rPr lang="en-GB" b="1" dirty="0" err="1"/>
              <a:t>l’audit</a:t>
            </a:r>
            <a:r>
              <a:rPr lang="en-GB" b="1" dirty="0"/>
              <a:t> de sécurité</a:t>
            </a:r>
          </a:p>
          <a:p>
            <a:r>
              <a:rPr lang="en-GB" b="1" dirty="0" err="1"/>
              <a:t>Création</a:t>
            </a:r>
            <a:r>
              <a:rPr lang="en-GB" b="1" dirty="0"/>
              <a:t> d’un script Python </a:t>
            </a:r>
            <a:r>
              <a:rPr lang="en-GB" b="1" dirty="0" err="1"/>
              <a:t>d’audit</a:t>
            </a:r>
            <a:endParaRPr lang="en-GB" dirty="0"/>
          </a:p>
          <a:p>
            <a:r>
              <a:rPr lang="en-GB" b="1" dirty="0" err="1"/>
              <a:t>Vérification</a:t>
            </a:r>
            <a:r>
              <a:rPr lang="en-GB" b="1" dirty="0"/>
              <a:t> </a:t>
            </a:r>
            <a:r>
              <a:rPr lang="en-GB" b="1" dirty="0" err="1"/>
              <a:t>automatique</a:t>
            </a:r>
            <a:r>
              <a:rPr lang="en-GB" b="1" dirty="0"/>
              <a:t> de la configuration</a:t>
            </a:r>
            <a:endParaRPr lang="en-GB" dirty="0"/>
          </a:p>
          <a:p>
            <a:r>
              <a:rPr lang="en-GB" b="1" dirty="0" err="1"/>
              <a:t>Contrôle</a:t>
            </a:r>
            <a:r>
              <a:rPr lang="en-GB" b="1" dirty="0"/>
              <a:t> des </a:t>
            </a:r>
            <a:r>
              <a:rPr lang="en-GB" b="1" dirty="0" err="1"/>
              <a:t>paramètres</a:t>
            </a:r>
            <a:r>
              <a:rPr lang="en-GB" b="1" dirty="0"/>
              <a:t> de sécurité</a:t>
            </a:r>
            <a:endParaRPr lang="en-GB" dirty="0"/>
          </a:p>
          <a:p>
            <a:pPr lvl="1"/>
            <a:r>
              <a:rPr lang="en-GB" dirty="0" err="1"/>
              <a:t>Comptes</a:t>
            </a:r>
            <a:r>
              <a:rPr lang="en-GB" dirty="0"/>
              <a:t> et permissions</a:t>
            </a:r>
          </a:p>
          <a:p>
            <a:pPr lvl="1"/>
            <a:r>
              <a:rPr lang="en-GB" dirty="0"/>
              <a:t>Services </a:t>
            </a:r>
            <a:r>
              <a:rPr lang="en-GB" dirty="0" err="1"/>
              <a:t>actifs</a:t>
            </a:r>
            <a:endParaRPr lang="en-GB" dirty="0"/>
          </a:p>
          <a:p>
            <a:pPr lvl="1"/>
            <a:r>
              <a:rPr lang="en-GB" dirty="0"/>
              <a:t>Configuration SSH</a:t>
            </a:r>
          </a:p>
          <a:p>
            <a:pPr lvl="1"/>
            <a:r>
              <a:rPr lang="en-GB" dirty="0"/>
              <a:t>Pare-feu</a:t>
            </a:r>
          </a:p>
        </p:txBody>
      </p:sp>
    </p:spTree>
    <p:extLst>
      <p:ext uri="{BB962C8B-B14F-4D97-AF65-F5344CB8AC3E}">
        <p14:creationId xmlns:p14="http://schemas.microsoft.com/office/powerpoint/2010/main" val="318883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,493 Hacker Code High Res Illustrations - Getty Images | Cyber security,  Big data, Computer code">
            <a:extLst>
              <a:ext uri="{FF2B5EF4-FFF2-40B4-BE49-F238E27FC236}">
                <a16:creationId xmlns:a16="http://schemas.microsoft.com/office/drawing/2014/main" id="{97C8870E-7B6C-7061-1AD8-9250F337F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2404993" cy="8310535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11A6B65-5A20-4F4D-ACBB-ED50132D45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02329" y="1430563"/>
            <a:ext cx="6798250" cy="1674470"/>
          </a:xfrm>
        </p:spPr>
        <p:txBody>
          <a:bodyPr rtlCol="0"/>
          <a:lstStyle/>
          <a:p>
            <a:pPr rtl="0"/>
            <a:r>
              <a:rPr lang="en-GB" dirty="0"/>
              <a:t>Conclusion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828E04-9C2A-4859-8050-C2DF67A249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en-GB"/>
              <a:t>April Hansson</a:t>
            </a:r>
          </a:p>
        </p:txBody>
      </p:sp>
      <p:pic>
        <p:nvPicPr>
          <p:cNvPr id="10" name="Graphic 9" descr="Smart Phone" title="Icon - Presenter Phone Number">
            <a:extLst>
              <a:ext uri="{FF2B5EF4-FFF2-40B4-BE49-F238E27FC236}">
                <a16:creationId xmlns:a16="http://schemas.microsoft.com/office/drawing/2014/main" id="{A29DE31C-E099-4579-BB03-675E0A40C5F2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3050" y="4130805"/>
            <a:ext cx="218900" cy="2189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265965-2271-4C1C-BD0A-6F85F80FF9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en-GB"/>
              <a:t>+44 1239 876 554</a:t>
            </a:r>
          </a:p>
        </p:txBody>
      </p:sp>
      <p:pic>
        <p:nvPicPr>
          <p:cNvPr id="9" name="Graphic 8" descr="Envelope" title="Icon Presenter Email">
            <a:extLst>
              <a:ext uri="{FF2B5EF4-FFF2-40B4-BE49-F238E27FC236}">
                <a16:creationId xmlns:a16="http://schemas.microsoft.com/office/drawing/2014/main" id="{773C1382-ACE1-460F-A1B6-AB761A7D2E6B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83050" y="4536623"/>
            <a:ext cx="218900" cy="218900"/>
          </a:xfrm>
          <a:prstGeom prst="rect">
            <a:avLst/>
          </a:prstGeom>
        </p:spPr>
      </p:pic>
      <p:pic>
        <p:nvPicPr>
          <p:cNvPr id="11" name="Graphic 10" descr="Link">
            <a:extLst>
              <a:ext uri="{FF2B5EF4-FFF2-40B4-BE49-F238E27FC236}">
                <a16:creationId xmlns:a16="http://schemas.microsoft.com/office/drawing/2014/main" id="{0718E6E0-05A2-479C-AEA8-1A385EB73474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6191" y="4904341"/>
            <a:ext cx="244786" cy="244786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382DE25-E72C-473B-AB0F-13DF377E6A8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pPr rtl="0"/>
            <a:r>
              <a:rPr lang="en-GB"/>
              <a:t>www.woodgrovebank.com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352CF6-0F22-45A8-B28B-37FAFCE5C5D6}"/>
              </a:ext>
            </a:extLst>
          </p:cNvPr>
          <p:cNvSpPr txBox="1"/>
          <p:nvPr/>
        </p:nvSpPr>
        <p:spPr>
          <a:xfrm>
            <a:off x="10251642" y="182562"/>
            <a:ext cx="1662546" cy="404658"/>
          </a:xfrm>
          <a:prstGeom prst="rect">
            <a:avLst/>
          </a:prstGeom>
          <a:noFill/>
        </p:spPr>
        <p:txBody>
          <a:bodyPr wrap="square" lIns="0" tIns="36000" rIns="0" bIns="0" rtlCol="0">
            <a:spAutoFit/>
          </a:bodyPr>
          <a:lstStyle/>
          <a:p>
            <a:pPr algn="r" rtl="0">
              <a:lnSpc>
                <a:spcPts val="1400"/>
              </a:lnSpc>
            </a:pPr>
            <a:r>
              <a:rPr lang="en-GB" sz="1600" b="1" spc="-100">
                <a:solidFill>
                  <a:schemeClr val="tx1">
                    <a:lumMod val="50000"/>
                    <a:lumOff val="50000"/>
                  </a:schemeClr>
                </a:solidFill>
                <a:latin typeface="Corbel" panose="020B0503020204020204" pitchFamily="34" charset="0"/>
              </a:rPr>
              <a:t>WOODGROVE</a:t>
            </a:r>
            <a:r>
              <a:rPr lang="en-GB" sz="1600" b="1" spc="-100">
                <a:solidFill>
                  <a:schemeClr val="accent1"/>
                </a:solidFill>
                <a:latin typeface="Corbel" panose="020B0503020204020204" pitchFamily="34" charset="0"/>
              </a:rPr>
              <a:t> </a:t>
            </a:r>
            <a:r>
              <a:rPr lang="en-GB" sz="1600" b="1" spc="-100">
                <a:solidFill>
                  <a:schemeClr val="tx1"/>
                </a:solidFill>
                <a:latin typeface="Corbel" panose="020B0503020204020204" pitchFamily="34" charset="0"/>
              </a:rPr>
              <a:t>BANK</a:t>
            </a:r>
          </a:p>
        </p:txBody>
      </p:sp>
    </p:spTree>
    <p:extLst>
      <p:ext uri="{BB962C8B-B14F-4D97-AF65-F5344CB8AC3E}">
        <p14:creationId xmlns:p14="http://schemas.microsoft.com/office/powerpoint/2010/main" val="4153678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feeling like a hacker - Meme by MonkeyRange :) Memedroid">
            <a:extLst>
              <a:ext uri="{FF2B5EF4-FFF2-40B4-BE49-F238E27FC236}">
                <a16:creationId xmlns:a16="http://schemas.microsoft.com/office/drawing/2014/main" id="{65D57EB2-DFA3-F7CF-1DE1-84EAD511C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7640" y="36170"/>
            <a:ext cx="2174360" cy="68218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C0F4E6-6513-6AA5-BD84-E17219FD1D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7682AE-AD75-0383-D6AC-65C517F6ED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-76200" y="4035727"/>
            <a:ext cx="5580411" cy="382887"/>
          </a:xfrm>
        </p:spPr>
        <p:txBody>
          <a:bodyPr/>
          <a:lstStyle/>
          <a:p>
            <a:r>
              <a:rPr lang="fr-FR" dirty="0"/>
              <a:t>THEOFAN PANDO</a:t>
            </a:r>
          </a:p>
          <a:p>
            <a:r>
              <a:rPr lang="fr-FR" dirty="0"/>
              <a:t>MOISE BEYOKO MAMBWENY</a:t>
            </a:r>
          </a:p>
          <a:p>
            <a:r>
              <a:rPr lang="fr-FR" dirty="0"/>
              <a:t>ALEXANDRE RODRIGUES PEREIRA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437C59-CB04-F149-343E-20F9F6A4E42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/>
              <a:t>PHONE NUMBER : 17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17E92C-0A44-6F0E-142B-C79F5DB430C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fr-FR" dirty="0"/>
              <a:t>COMPANY : AEGIS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90637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34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5CB8B3"/>
      </a:accent1>
      <a:accent2>
        <a:srgbClr val="F5D66E"/>
      </a:accent2>
      <a:accent3>
        <a:srgbClr val="D78189"/>
      </a:accent3>
      <a:accent4>
        <a:srgbClr val="7030A0"/>
      </a:accent4>
      <a:accent5>
        <a:srgbClr val="0070C0"/>
      </a:accent5>
      <a:accent6>
        <a:srgbClr val="C4D36D"/>
      </a:accent6>
      <a:hlink>
        <a:srgbClr val="54C3BD"/>
      </a:hlink>
      <a:folHlink>
        <a:srgbClr val="54C3BD"/>
      </a:folHlink>
    </a:clrScheme>
    <a:fontScheme name="Custom 154">
      <a:majorFont>
        <a:latin typeface="Arial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30677756_TF67328976" id="{8D41288C-A143-4C55-A19F-9A38F7741759}" vid="{98B99BFD-3B7E-4AE0-80A8-38C1178D3A4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d0cbe9c-acd0-4269-b726-4bce2dd7b03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B013D2F89387478C6CBF2ABDE463AA" ma:contentTypeVersion="9" ma:contentTypeDescription="Create a new document." ma:contentTypeScope="" ma:versionID="91a098fa0ea6e002412847cc6876d269">
  <xsd:schema xmlns:xsd="http://www.w3.org/2001/XMLSchema" xmlns:xs="http://www.w3.org/2001/XMLSchema" xmlns:p="http://schemas.microsoft.com/office/2006/metadata/properties" xmlns:ns3="fd0cbe9c-acd0-4269-b726-4bce2dd7b032" targetNamespace="http://schemas.microsoft.com/office/2006/metadata/properties" ma:root="true" ma:fieldsID="68214d5204964fd77a2b5d067a48533d" ns3:_="">
    <xsd:import namespace="fd0cbe9c-acd0-4269-b726-4bce2dd7b03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0cbe9c-acd0-4269-b726-4bce2dd7b03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6CB1848-D3E0-4F10-B640-720BE758B85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4934E25-8442-49E9-ABDF-3146C4145F3B}">
  <ds:schemaRefs>
    <ds:schemaRef ds:uri="http://purl.org/dc/dcmitype/"/>
    <ds:schemaRef ds:uri="http://schemas.microsoft.com/office/2006/metadata/properties"/>
    <ds:schemaRef ds:uri="fd0cbe9c-acd0-4269-b726-4bce2dd7b032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FF12E241-9EA9-4BF1-8BBD-23F4EA926C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0cbe9c-acd0-4269-b726-4bce2dd7b0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 AEGIS PROJECT 0</Template>
  <TotalTime>0</TotalTime>
  <Words>274</Words>
  <Application>Microsoft Office PowerPoint</Application>
  <PresentationFormat>Widescreen</PresentationFormat>
  <Paragraphs>74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Corbel</vt:lpstr>
      <vt:lpstr>Times New Roman</vt:lpstr>
      <vt:lpstr>Office Theme</vt:lpstr>
      <vt:lpstr>Presentation AEGIS PROJECT 0</vt:lpstr>
      <vt:lpstr>PLAN : </vt:lpstr>
      <vt:lpstr>Contextualisation</vt:lpstr>
      <vt:lpstr>DEPLOIEMENT D’UNE INFRASTRUCTUR PROPRE</vt:lpstr>
      <vt:lpstr>DEPLOIEMENT D’UNE INFRASTRUCTUR PROPRE</vt:lpstr>
      <vt:lpstr>SCRIPT PYTHON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Alexandre RODRIGUES PEREIRA</dc:creator>
  <cp:lastModifiedBy>Alexandre RODRIGUES PEREIRA</cp:lastModifiedBy>
  <cp:revision>1</cp:revision>
  <dcterms:created xsi:type="dcterms:W3CDTF">2026-07-09T10:39:34Z</dcterms:created>
  <dcterms:modified xsi:type="dcterms:W3CDTF">2026-07-09T10:39:57Z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0x01010064B013D2F89387478C6CBF2ABDE463AA</vt:lpwstr>
  </property>
</Properties>
</file>