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2" r:id="rId5"/>
    <p:sldId id="292" r:id="rId6"/>
    <p:sldId id="293" r:id="rId7"/>
    <p:sldId id="298" r:id="rId8"/>
    <p:sldId id="291" r:id="rId9"/>
    <p:sldId id="283" r:id="rId10"/>
    <p:sldId id="284" r:id="rId11"/>
    <p:sldId id="296" r:id="rId12"/>
    <p:sldId id="297" r:id="rId1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31" autoAdjust="0"/>
  </p:normalViewPr>
  <p:slideViewPr>
    <p:cSldViewPr snapToGrid="0">
      <p:cViewPr varScale="1">
        <p:scale>
          <a:sx n="108" d="100"/>
          <a:sy n="108" d="100"/>
        </p:scale>
        <p:origin x="156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0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5FAA28-D333-4D57-AF0E-BDF53B4498B2}" type="datetime1">
              <a:rPr lang="en-GB" smtClean="0"/>
              <a:t>10/07/2026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03277C-3F5C-4673-8D79-1738A329ED93}" type="datetime1">
              <a:rPr lang="en-GB" noProof="0" smtClean="0"/>
              <a:t>10/07/2026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46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716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884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270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16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137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949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 rtlCol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 rtlCol="0"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 rtlCol="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4500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800" y="2020359"/>
            <a:ext cx="4500000" cy="4170891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rtlCol="0"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EFF903-F1F3-440A-B12C-9FD51606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-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rtlCol="0"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 rtlCol="0"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Full Name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Phone Number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Email or Social Media Handle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916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2900" y="1511476"/>
            <a:ext cx="2916000" cy="4679249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800" y="1511475"/>
            <a:ext cx="2916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1764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90450" y="1512000"/>
            <a:ext cx="1764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8900" y="1512000"/>
            <a:ext cx="1764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07350" y="1507535"/>
            <a:ext cx="1764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5800" y="1507535"/>
            <a:ext cx="1764000" cy="4683715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DF756E-F310-4229-ACDD-055D299A95FB}"/>
              </a:ext>
            </a:extLst>
          </p:cNvPr>
          <p:cNvSpPr/>
          <p:nvPr userDrawn="1"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775" y="993303"/>
            <a:ext cx="5053936" cy="2513468"/>
          </a:xfrm>
        </p:spPr>
        <p:txBody>
          <a:bodyPr rtlCol="0"/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7779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046375"/>
            <a:ext cx="9198000" cy="513058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008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046376"/>
            <a:ext cx="4435831" cy="513058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94169" y="1046376"/>
            <a:ext cx="4435831" cy="513058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3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1" y="2096752"/>
            <a:ext cx="4434840" cy="4092911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195160" y="2096752"/>
            <a:ext cx="4434840" cy="4092911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46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70722" y="457201"/>
            <a:ext cx="6023727" cy="5726784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2000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8021" y="457201"/>
            <a:ext cx="5949868" cy="5726784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2147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3779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C8D0EF-1DB6-4ADC-8F31-5AE53BF5EAF4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 userDrawn="1"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9630116" y="6346108"/>
            <a:ext cx="1662546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>
              <a:lnSpc>
                <a:spcPts val="1400"/>
              </a:lnSpc>
            </a:pPr>
            <a:r>
              <a:rPr lang="en-GB" sz="1600" b="1" spc="-100" noProof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WOODGROVE</a:t>
            </a:r>
            <a:r>
              <a:rPr lang="en-GB" sz="1600" b="1" spc="-100" noProof="0">
                <a:solidFill>
                  <a:schemeClr val="accent1"/>
                </a:solidFill>
                <a:latin typeface="Corbel" panose="020B0503020204020204" pitchFamily="34" charset="0"/>
              </a:rPr>
              <a:t> </a:t>
            </a:r>
            <a:r>
              <a:rPr lang="en-GB" sz="1600" b="1" spc="-100" noProof="0">
                <a:solidFill>
                  <a:schemeClr val="tx1"/>
                </a:solidFill>
                <a:latin typeface="Corbel" panose="020B0503020204020204" pitchFamily="34" charset="0"/>
              </a:rPr>
              <a:t>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56" r:id="rId10"/>
    <p:sldLayoutId id="2147483657" r:id="rId11"/>
    <p:sldLayoutId id="2147483654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5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5205663" y="3941638"/>
            <a:ext cx="1879577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>
              <a:lnSpc>
                <a:spcPts val="1400"/>
              </a:lnSpc>
            </a:pPr>
            <a:r>
              <a:rPr lang="en-GB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POUR </a:t>
            </a:r>
            <a:br>
              <a:rPr lang="en-GB" sz="1600" b="1" spc="-100" dirty="0">
                <a:solidFill>
                  <a:schemeClr val="accent1"/>
                </a:solidFill>
                <a:latin typeface="Corbel" panose="020B0503020204020204" pitchFamily="34" charset="0"/>
              </a:rPr>
            </a:br>
            <a:r>
              <a:rPr lang="en-GB" sz="1600" b="1" spc="-100" dirty="0">
                <a:latin typeface="Corbel" panose="020B0503020204020204" pitchFamily="34" charset="0"/>
              </a:rPr>
              <a:t>TECHSUD</a:t>
            </a:r>
            <a:endParaRPr lang="en-GB" sz="1600" b="1" spc="-100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 dirty="0"/>
              <a:t>Presentation AEGIS PROJECT 0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dirty="0"/>
              <a:t>Lorem20</a:t>
            </a:r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190260" y="-101417"/>
            <a:ext cx="6798250" cy="1674470"/>
          </a:xfrm>
        </p:spPr>
        <p:txBody>
          <a:bodyPr rtlCol="0"/>
          <a:lstStyle/>
          <a:p>
            <a:pPr rtl="0"/>
            <a:r>
              <a:rPr lang="fr-FR" dirty="0"/>
              <a:t>P</a:t>
            </a:r>
            <a:r>
              <a:rPr lang="en-GB" dirty="0"/>
              <a:t>LAN :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6746" y="2090218"/>
            <a:ext cx="8510990" cy="4200853"/>
          </a:xfrm>
        </p:spPr>
        <p:txBody>
          <a:bodyPr rtlCol="0"/>
          <a:lstStyle/>
          <a:p>
            <a:pPr rtl="0"/>
            <a:r>
              <a:rPr lang="fr-FR" sz="3000" dirty="0"/>
              <a:t>1- Introduction  </a:t>
            </a:r>
          </a:p>
          <a:p>
            <a:pPr rtl="0"/>
            <a:r>
              <a:rPr lang="fr-FR" sz="3000" dirty="0"/>
              <a:t>2 - Deploiement d’une infrastructure propre </a:t>
            </a:r>
          </a:p>
          <a:p>
            <a:r>
              <a:rPr lang="fr-FR" sz="3000" dirty="0"/>
              <a:t>3 - Durcissement  du système </a:t>
            </a:r>
          </a:p>
          <a:p>
            <a:r>
              <a:rPr lang="fr-FR" sz="3000" dirty="0"/>
              <a:t>4 - Script Py, automatisation  </a:t>
            </a:r>
          </a:p>
          <a:p>
            <a:r>
              <a:rPr lang="fr-FR" sz="3000" dirty="0"/>
              <a:t>5 - Conclusion</a:t>
            </a:r>
            <a:endParaRPr lang="en-GB" sz="3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6" name="Picture 5" descr="hackerman #mainframe #memeframemonday | Niall A.">
            <a:extLst>
              <a:ext uri="{FF2B5EF4-FFF2-40B4-BE49-F238E27FC236}">
                <a16:creationId xmlns:a16="http://schemas.microsoft.com/office/drawing/2014/main" id="{D4DA54EA-7146-DB6E-382B-6821B0B6A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806" y="1"/>
            <a:ext cx="21426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mazon.com - Hackerman -Mr Robot Sticker Vinyl Waterproof Sticker Decal Car  Laptop Wall Window Bumper Sticker 5&quot;">
            <a:extLst>
              <a:ext uri="{FF2B5EF4-FFF2-40B4-BE49-F238E27FC236}">
                <a16:creationId xmlns:a16="http://schemas.microsoft.com/office/drawing/2014/main" id="{0A79B64E-2D99-6E0D-F104-DD3E64A32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8000" contrast="70000"/>
                    </a14:imgEffect>
                  </a14:imgLayer>
                </a14:imgProps>
              </a:ext>
            </a:extLst>
          </a:blip>
          <a:srcRect l="37126" r="30627"/>
          <a:stretch>
            <a:fillRect/>
          </a:stretch>
        </p:blipFill>
        <p:spPr>
          <a:xfrm>
            <a:off x="9980476" y="10"/>
            <a:ext cx="2211524" cy="6857990"/>
          </a:xfrm>
          <a:prstGeom prst="rect">
            <a:avLst/>
          </a:prstGeom>
          <a:noFill/>
          <a:scene3d>
            <a:camera prst="orthographicFront">
              <a:rot lat="0" lon="300002" rev="0"/>
            </a:camera>
            <a:lightRig rig="threePt" dir="t"/>
          </a:scene3d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08D2E0C1-82E1-72E1-B7E4-E4B55BF92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1743" y="-462771"/>
            <a:ext cx="7951076" cy="1674470"/>
          </a:xfrm>
        </p:spPr>
        <p:txBody>
          <a:bodyPr anchor="b">
            <a:normAutofit/>
          </a:bodyPr>
          <a:lstStyle/>
          <a:p>
            <a:r>
              <a:rPr lang="fr-FR" dirty="0" err="1"/>
              <a:t>InTRODUCTION</a:t>
            </a:r>
            <a:r>
              <a:rPr lang="fr-FR" dirty="0"/>
              <a:t> </a:t>
            </a:r>
            <a:endParaRPr lang="en-GB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1388535"/>
            <a:ext cx="9347200" cy="5156199"/>
          </a:xfrm>
        </p:spPr>
        <p:txBody>
          <a:bodyPr numCol="1" rtlCol="0" anchor="ctr">
            <a:normAutofit/>
          </a:bodyPr>
          <a:lstStyle/>
          <a:p>
            <a:pPr rtl="0"/>
            <a:endParaRPr lang="fr-FR" dirty="0"/>
          </a:p>
          <a:p>
            <a:pPr rtl="0"/>
            <a:r>
              <a:rPr lang="fr-FR" dirty="0" err="1"/>
              <a:t>TechSud</a:t>
            </a:r>
            <a:r>
              <a:rPr lang="fr-FR" dirty="0"/>
              <a:t> – Incident de cybersécurité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PME de 30 employés 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Infrastructure critique pour l’activité 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Serveur critique pour l’activité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Cyberattaque détectée </a:t>
            </a:r>
          </a:p>
          <a:p>
            <a:pPr marL="285750" indent="-285750" rtl="0">
              <a:buFontTx/>
              <a:buChar char="-"/>
            </a:pPr>
            <a:endParaRPr lang="fr-FR" dirty="0"/>
          </a:p>
          <a:p>
            <a:pPr rtl="0"/>
            <a:r>
              <a:rPr lang="fr-FR" dirty="0"/>
              <a:t>Mission :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1. Analyser l’incident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2. Restaurer l’infrastructure 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3. Renforcer la sécurité</a:t>
            </a:r>
          </a:p>
          <a:p>
            <a:pPr rtl="0"/>
            <a:endParaRPr lang="fr-FR" dirty="0"/>
          </a:p>
          <a:p>
            <a:pPr rtl="0"/>
            <a:r>
              <a:rPr lang="fr-FR" dirty="0"/>
              <a:t>Objectif : garantir une infrastructure sécurisée et fiable</a:t>
            </a:r>
          </a:p>
          <a:p>
            <a:pPr marL="285750" indent="-285750" rtl="0">
              <a:buFontTx/>
              <a:buChar char="-"/>
            </a:pPr>
            <a:endParaRPr lang="fr-FR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7502" y="6401750"/>
            <a:ext cx="278418" cy="274324"/>
          </a:xfrm>
        </p:spPr>
        <p:txBody>
          <a:bodyPr rtlCol="0"/>
          <a:lstStyle/>
          <a:p>
            <a:pPr rtl="0">
              <a:spcAft>
                <a:spcPts val="600"/>
              </a:spcAft>
            </a:pPr>
            <a:fld id="{19B51A1E-902D-48AF-9020-955120F399B6}" type="slidenum">
              <a:rPr lang="en-GB" smtClean="0"/>
              <a:pPr rtl="0">
                <a:spcAft>
                  <a:spcPts val="600"/>
                </a:spcAft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01C223-0904-DC44-637C-E78EBF9D5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250"/>
            <a:ext cx="12242243" cy="668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2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ark, Hacker and Portrait of Man with Laptop for Online Fraud,  Cybersecurity Threat and Data Breach. Studio, Thief and Stock Image - Image  of tech, portrait: 444420649">
            <a:extLst>
              <a:ext uri="{FF2B5EF4-FFF2-40B4-BE49-F238E27FC236}">
                <a16:creationId xmlns:a16="http://schemas.microsoft.com/office/drawing/2014/main" id="{10FC94A6-F9FB-2663-2287-7EC09ADA7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68" r="21964"/>
          <a:stretch>
            <a:fillRect/>
          </a:stretch>
        </p:blipFill>
        <p:spPr>
          <a:xfrm>
            <a:off x="9980476" y="10"/>
            <a:ext cx="2211524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86" y="1807950"/>
            <a:ext cx="5184913" cy="432000"/>
          </a:xfrm>
        </p:spPr>
        <p:txBody>
          <a:bodyPr rtlCol="0" anchor="ctr">
            <a:normAutofit fontScale="90000"/>
          </a:bodyPr>
          <a:lstStyle/>
          <a:p>
            <a:r>
              <a:rPr lang="fr-FR" sz="3000" dirty="0"/>
              <a:t>D</a:t>
            </a:r>
            <a:r>
              <a:rPr lang="en-GB" sz="3000" dirty="0"/>
              <a:t>EPLOIEMENT D’UNE INFRASTRUCTUR PROPRE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E40B9-054F-4D79-BD17-68E71C740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5000" y="2908300"/>
            <a:ext cx="5184800" cy="3283700"/>
          </a:xfrm>
        </p:spPr>
        <p:txBody>
          <a:bodyPr rtlCol="0">
            <a:normAutofit/>
          </a:bodyPr>
          <a:lstStyle/>
          <a:p>
            <a:r>
              <a:rPr lang="en-GB" dirty="0" err="1"/>
              <a:t>Remplacement</a:t>
            </a:r>
            <a:r>
              <a:rPr lang="en-GB" dirty="0"/>
              <a:t> du </a:t>
            </a:r>
            <a:r>
              <a:rPr lang="en-GB" dirty="0" err="1"/>
              <a:t>serveur</a:t>
            </a:r>
            <a:r>
              <a:rPr lang="en-GB" dirty="0"/>
              <a:t> </a:t>
            </a:r>
            <a:r>
              <a:rPr lang="en-GB" dirty="0" err="1"/>
              <a:t>compromis</a:t>
            </a:r>
            <a:endParaRPr lang="en-GB" dirty="0"/>
          </a:p>
          <a:p>
            <a:r>
              <a:rPr lang="en-GB" dirty="0"/>
              <a:t>Nouvelle machine </a:t>
            </a:r>
            <a:r>
              <a:rPr lang="en-GB" dirty="0" err="1"/>
              <a:t>virtuelle</a:t>
            </a:r>
            <a:r>
              <a:rPr lang="en-GB" dirty="0"/>
              <a:t> Linux (Debian)</a:t>
            </a:r>
          </a:p>
          <a:p>
            <a:r>
              <a:rPr lang="en-GB" dirty="0"/>
              <a:t>Reconstruction sur </a:t>
            </a:r>
            <a:r>
              <a:rPr lang="en-GB" dirty="0" err="1"/>
              <a:t>une</a:t>
            </a:r>
            <a:r>
              <a:rPr lang="en-GB" dirty="0"/>
              <a:t> base saine</a:t>
            </a:r>
          </a:p>
          <a:p>
            <a:r>
              <a:rPr lang="en-GB" dirty="0"/>
              <a:t>Suppression des </a:t>
            </a:r>
            <a:r>
              <a:rPr lang="en-GB" dirty="0" err="1"/>
              <a:t>risques</a:t>
            </a:r>
            <a:r>
              <a:rPr lang="en-GB" dirty="0"/>
              <a:t> </a:t>
            </a:r>
            <a:r>
              <a:rPr lang="en-GB" dirty="0" err="1"/>
              <a:t>liés</a:t>
            </a:r>
            <a:r>
              <a:rPr lang="en-GB" dirty="0"/>
              <a:t> à l’ancienne infrastructure</a:t>
            </a:r>
          </a:p>
          <a:p>
            <a:r>
              <a:rPr lang="en-GB" dirty="0"/>
              <a:t>Configuration </a:t>
            </a:r>
            <a:r>
              <a:rPr lang="en-GB" dirty="0" err="1"/>
              <a:t>sécurisée</a:t>
            </a:r>
            <a:r>
              <a:rPr lang="en-GB" dirty="0"/>
              <a:t> </a:t>
            </a:r>
            <a:r>
              <a:rPr lang="en-GB" dirty="0" err="1"/>
              <a:t>dès</a:t>
            </a:r>
            <a:r>
              <a:rPr lang="en-GB" dirty="0"/>
              <a:t> le </a:t>
            </a:r>
            <a:r>
              <a:rPr lang="en-GB" dirty="0" err="1"/>
              <a:t>départ</a:t>
            </a:r>
            <a:endParaRPr lang="en-GB" dirty="0"/>
          </a:p>
          <a:p>
            <a:r>
              <a:rPr lang="en-GB" dirty="0"/>
              <a:t>Objectif : </a:t>
            </a:r>
            <a:r>
              <a:rPr lang="en-GB" dirty="0" err="1"/>
              <a:t>repartir</a:t>
            </a:r>
            <a:r>
              <a:rPr lang="en-GB" dirty="0"/>
              <a:t> avec un </a:t>
            </a:r>
            <a:r>
              <a:rPr lang="en-GB" dirty="0" err="1"/>
              <a:t>environnement</a:t>
            </a:r>
            <a:r>
              <a:rPr lang="en-GB" dirty="0"/>
              <a:t> </a:t>
            </a:r>
            <a:r>
              <a:rPr lang="en-GB" dirty="0" err="1"/>
              <a:t>fiable</a:t>
            </a:r>
            <a:r>
              <a:rPr lang="en-GB" dirty="0"/>
              <a:t> et protégé</a:t>
            </a:r>
          </a:p>
        </p:txBody>
      </p:sp>
    </p:spTree>
    <p:extLst>
      <p:ext uri="{BB962C8B-B14F-4D97-AF65-F5344CB8AC3E}">
        <p14:creationId xmlns:p14="http://schemas.microsoft.com/office/powerpoint/2010/main" val="364070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Understanding the Mind of a Hacker - Cyber Security">
            <a:extLst>
              <a:ext uri="{FF2B5EF4-FFF2-40B4-BE49-F238E27FC236}">
                <a16:creationId xmlns:a16="http://schemas.microsoft.com/office/drawing/2014/main" id="{31C0E114-90E0-8672-F6E3-87EC556D6F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24" r="31402"/>
          <a:stretch>
            <a:fillRect/>
          </a:stretch>
        </p:blipFill>
        <p:spPr>
          <a:xfrm>
            <a:off x="9990667" y="-51913"/>
            <a:ext cx="2201334" cy="6909913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13580" y="2333089"/>
            <a:ext cx="4434840" cy="4092911"/>
          </a:xfrm>
        </p:spPr>
        <p:txBody>
          <a:bodyPr rtlCol="0">
            <a:normAutofit/>
          </a:bodyPr>
          <a:lstStyle/>
          <a:p>
            <a:r>
              <a:rPr lang="en-GB" dirty="0" err="1"/>
              <a:t>Sécurisation</a:t>
            </a:r>
            <a:r>
              <a:rPr lang="en-GB" dirty="0"/>
              <a:t> des </a:t>
            </a:r>
            <a:r>
              <a:rPr lang="en-GB" dirty="0" err="1"/>
              <a:t>comptes</a:t>
            </a:r>
            <a:r>
              <a:rPr lang="en-GB" dirty="0"/>
              <a:t> </a:t>
            </a:r>
            <a:r>
              <a:rPr lang="en-GB" dirty="0" err="1"/>
              <a:t>utilisateurs</a:t>
            </a:r>
            <a:endParaRPr lang="en-GB" dirty="0"/>
          </a:p>
          <a:p>
            <a:r>
              <a:rPr lang="en-GB" dirty="0"/>
              <a:t>Gestion </a:t>
            </a:r>
            <a:r>
              <a:rPr lang="en-GB" dirty="0" err="1"/>
              <a:t>stricte</a:t>
            </a:r>
            <a:r>
              <a:rPr lang="en-GB" dirty="0"/>
              <a:t> des droits </a:t>
            </a:r>
            <a:r>
              <a:rPr lang="en-GB" dirty="0" err="1"/>
              <a:t>d’accès</a:t>
            </a:r>
            <a:endParaRPr lang="en-GB" dirty="0"/>
          </a:p>
          <a:p>
            <a:r>
              <a:rPr lang="en-GB" dirty="0"/>
              <a:t>Connexion SSH </a:t>
            </a:r>
            <a:r>
              <a:rPr lang="en-GB" dirty="0" err="1"/>
              <a:t>sécurisée</a:t>
            </a:r>
            <a:endParaRPr lang="en-GB" dirty="0"/>
          </a:p>
          <a:p>
            <a:pPr lvl="1"/>
            <a:r>
              <a:rPr lang="en-GB" dirty="0" err="1"/>
              <a:t>Authentification</a:t>
            </a:r>
            <a:r>
              <a:rPr lang="en-GB" dirty="0"/>
              <a:t> par </a:t>
            </a:r>
            <a:r>
              <a:rPr lang="en-GB" dirty="0" err="1"/>
              <a:t>clé</a:t>
            </a:r>
            <a:r>
              <a:rPr lang="en-GB" dirty="0"/>
              <a:t> </a:t>
            </a:r>
            <a:r>
              <a:rPr lang="en-GB" dirty="0" err="1"/>
              <a:t>uniquement</a:t>
            </a:r>
            <a:endParaRPr lang="en-GB" dirty="0"/>
          </a:p>
          <a:p>
            <a:pPr lvl="1"/>
            <a:r>
              <a:rPr lang="en-GB" dirty="0" err="1"/>
              <a:t>Désactivation</a:t>
            </a:r>
            <a:r>
              <a:rPr lang="en-GB" dirty="0"/>
              <a:t> du compte root</a:t>
            </a:r>
          </a:p>
          <a:p>
            <a:pPr lvl="1"/>
            <a:r>
              <a:rPr lang="en-GB" dirty="0"/>
              <a:t>Interdiction des connexions par mot de passe</a:t>
            </a:r>
          </a:p>
          <a:p>
            <a:r>
              <a:rPr lang="en-GB" dirty="0"/>
              <a:t>Configuration du pare-feu avec UFW</a:t>
            </a:r>
          </a:p>
          <a:p>
            <a:pPr lvl="1"/>
            <a:r>
              <a:rPr lang="en-GB" dirty="0" err="1"/>
              <a:t>Autorisation</a:t>
            </a:r>
            <a:r>
              <a:rPr lang="en-GB" dirty="0"/>
              <a:t> des services </a:t>
            </a:r>
            <a:r>
              <a:rPr lang="en-GB" dirty="0" err="1"/>
              <a:t>nécessaires</a:t>
            </a:r>
            <a:r>
              <a:rPr lang="en-GB" dirty="0"/>
              <a:t> </a:t>
            </a:r>
            <a:r>
              <a:rPr lang="en-GB" dirty="0" err="1"/>
              <a:t>uniquement</a:t>
            </a:r>
            <a:endParaRPr lang="en-GB" dirty="0"/>
          </a:p>
          <a:p>
            <a:r>
              <a:rPr lang="en-GB" dirty="0" err="1"/>
              <a:t>Désactivation</a:t>
            </a:r>
            <a:r>
              <a:rPr lang="en-GB" dirty="0"/>
              <a:t> des services </a:t>
            </a:r>
            <a:r>
              <a:rPr lang="en-GB" dirty="0" err="1"/>
              <a:t>inutiles</a:t>
            </a:r>
            <a:endParaRPr lang="en-GB" dirty="0"/>
          </a:p>
          <a:p>
            <a:r>
              <a:rPr lang="en-GB" dirty="0"/>
              <a:t>Fail2ban anti brut force</a:t>
            </a:r>
          </a:p>
          <a:p>
            <a:r>
              <a:rPr lang="en-GB" dirty="0"/>
              <a:t>Objectif : </a:t>
            </a:r>
            <a:r>
              <a:rPr lang="en-GB" dirty="0" err="1"/>
              <a:t>réduire</a:t>
            </a:r>
            <a:r>
              <a:rPr lang="en-GB" dirty="0"/>
              <a:t> les </a:t>
            </a:r>
            <a:r>
              <a:rPr lang="en-GB" dirty="0" err="1"/>
              <a:t>risques</a:t>
            </a:r>
            <a:r>
              <a:rPr lang="en-GB" dirty="0"/>
              <a:t> et </a:t>
            </a:r>
            <a:r>
              <a:rPr lang="en-GB" dirty="0" err="1"/>
              <a:t>renforcer</a:t>
            </a:r>
            <a:r>
              <a:rPr lang="en-GB" dirty="0"/>
              <a:t> la sécurité du </a:t>
            </a:r>
            <a:r>
              <a:rPr lang="en-GB" dirty="0" err="1"/>
              <a:t>serveur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270E50-3072-E5C6-B330-3FDDBAAA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77" y="999159"/>
            <a:ext cx="9198000" cy="432000"/>
          </a:xfrm>
        </p:spPr>
        <p:txBody>
          <a:bodyPr/>
          <a:lstStyle/>
          <a:p>
            <a:r>
              <a:rPr lang="en-GB" dirty="0" err="1"/>
              <a:t>Durcissement</a:t>
            </a:r>
            <a:r>
              <a:rPr lang="en-US" dirty="0"/>
              <a:t> du </a:t>
            </a:r>
            <a:r>
              <a:rPr lang="en-US" dirty="0" err="1"/>
              <a:t>système</a:t>
            </a:r>
            <a:br>
              <a:rPr lang="en-US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op 5 Most Notorious Computer Hackers - TechEBlog">
            <a:extLst>
              <a:ext uri="{FF2B5EF4-FFF2-40B4-BE49-F238E27FC236}">
                <a16:creationId xmlns:a16="http://schemas.microsoft.com/office/drawing/2014/main" id="{17F4F9DA-8794-924F-8E32-792B70B5B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636" y="-19364"/>
            <a:ext cx="2202363" cy="68773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S</a:t>
            </a:r>
            <a:r>
              <a:rPr lang="en-GB" dirty="0"/>
              <a:t>CRIPT PYTHON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169000"/>
            <a:ext cx="4500000" cy="2520000"/>
          </a:xfrm>
        </p:spPr>
        <p:txBody>
          <a:bodyPr rtlCol="0"/>
          <a:lstStyle/>
          <a:p>
            <a:r>
              <a:rPr lang="en-GB" b="1" dirty="0" err="1">
                <a:solidFill>
                  <a:schemeClr val="tx1"/>
                </a:solidFill>
              </a:rPr>
              <a:t>Détection</a:t>
            </a:r>
            <a:r>
              <a:rPr lang="en-GB" b="1" dirty="0">
                <a:solidFill>
                  <a:schemeClr val="tx1"/>
                </a:solidFill>
              </a:rPr>
              <a:t> des anomalies</a:t>
            </a:r>
          </a:p>
          <a:p>
            <a:r>
              <a:rPr lang="en-GB" b="1" dirty="0" err="1">
                <a:solidFill>
                  <a:schemeClr val="tx1"/>
                </a:solidFill>
              </a:rPr>
              <a:t>Génération</a:t>
            </a:r>
            <a:r>
              <a:rPr lang="en-GB" b="1" dirty="0">
                <a:solidFill>
                  <a:schemeClr val="tx1"/>
                </a:solidFill>
              </a:rPr>
              <a:t> d’un état </a:t>
            </a:r>
            <a:r>
              <a:rPr lang="en-GB" b="1" dirty="0" err="1">
                <a:solidFill>
                  <a:schemeClr val="tx1"/>
                </a:solidFill>
              </a:rPr>
              <a:t>clair</a:t>
            </a:r>
            <a:r>
              <a:rPr lang="en-GB" b="1" dirty="0">
                <a:solidFill>
                  <a:schemeClr val="tx1"/>
                </a:solidFill>
              </a:rPr>
              <a:t> : </a:t>
            </a:r>
            <a:r>
              <a:rPr lang="en-GB" b="1" dirty="0" err="1">
                <a:solidFill>
                  <a:schemeClr val="tx1"/>
                </a:solidFill>
              </a:rPr>
              <a:t>conforme</a:t>
            </a:r>
            <a:r>
              <a:rPr lang="en-GB" b="1" dirty="0">
                <a:solidFill>
                  <a:schemeClr val="tx1"/>
                </a:solidFill>
              </a:rPr>
              <a:t> / non </a:t>
            </a:r>
            <a:r>
              <a:rPr lang="en-GB" b="1" dirty="0" err="1">
                <a:solidFill>
                  <a:schemeClr val="tx1"/>
                </a:solidFill>
              </a:rPr>
              <a:t>conforme</a:t>
            </a:r>
            <a:endParaRPr lang="en-GB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Objectif : simplifier les </a:t>
            </a:r>
            <a:r>
              <a:rPr lang="en-GB" b="1" dirty="0" err="1">
                <a:solidFill>
                  <a:schemeClr val="tx1"/>
                </a:solidFill>
              </a:rPr>
              <a:t>vérifications</a:t>
            </a:r>
            <a:r>
              <a:rPr lang="en-GB" b="1" dirty="0">
                <a:solidFill>
                  <a:schemeClr val="tx1"/>
                </a:solidFill>
              </a:rPr>
              <a:t> et </a:t>
            </a:r>
            <a:r>
              <a:rPr lang="en-GB" b="1" dirty="0" err="1">
                <a:solidFill>
                  <a:schemeClr val="tx1"/>
                </a:solidFill>
              </a:rPr>
              <a:t>éviter</a:t>
            </a:r>
            <a:r>
              <a:rPr lang="en-GB" b="1" dirty="0">
                <a:solidFill>
                  <a:schemeClr val="tx1"/>
                </a:solidFill>
              </a:rPr>
              <a:t> les </a:t>
            </a:r>
            <a:r>
              <a:rPr lang="en-GB" b="1" dirty="0" err="1">
                <a:solidFill>
                  <a:schemeClr val="tx1"/>
                </a:solidFill>
              </a:rPr>
              <a:t>contrôles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err="1">
                <a:solidFill>
                  <a:schemeClr val="tx1"/>
                </a:solidFill>
              </a:rPr>
              <a:t>manuels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10818" y="2169000"/>
            <a:ext cx="4500000" cy="2520000"/>
          </a:xfrm>
        </p:spPr>
        <p:txBody>
          <a:bodyPr rtlCol="0"/>
          <a:lstStyle/>
          <a:p>
            <a:r>
              <a:rPr lang="en-GB" b="1" dirty="0" err="1"/>
              <a:t>Automatisation</a:t>
            </a:r>
            <a:r>
              <a:rPr lang="en-GB" b="1" dirty="0"/>
              <a:t> de </a:t>
            </a:r>
            <a:r>
              <a:rPr lang="en-GB" b="1" dirty="0" err="1"/>
              <a:t>l’audit</a:t>
            </a:r>
            <a:r>
              <a:rPr lang="en-GB" b="1" dirty="0"/>
              <a:t> de sécurité</a:t>
            </a:r>
          </a:p>
          <a:p>
            <a:r>
              <a:rPr lang="en-GB" b="1" dirty="0" err="1"/>
              <a:t>Création</a:t>
            </a:r>
            <a:r>
              <a:rPr lang="en-GB" b="1" dirty="0"/>
              <a:t> d’un script Python </a:t>
            </a:r>
            <a:r>
              <a:rPr lang="en-GB" b="1" dirty="0" err="1"/>
              <a:t>d’audit</a:t>
            </a:r>
            <a:endParaRPr lang="en-GB" dirty="0"/>
          </a:p>
          <a:p>
            <a:r>
              <a:rPr lang="en-GB" b="1" dirty="0" err="1"/>
              <a:t>Vérification</a:t>
            </a:r>
            <a:r>
              <a:rPr lang="en-GB" b="1" dirty="0"/>
              <a:t> </a:t>
            </a:r>
            <a:r>
              <a:rPr lang="en-GB" b="1" dirty="0" err="1"/>
              <a:t>automatique</a:t>
            </a:r>
            <a:r>
              <a:rPr lang="en-GB" b="1" dirty="0"/>
              <a:t> de la configuration</a:t>
            </a:r>
            <a:endParaRPr lang="en-GB" dirty="0"/>
          </a:p>
          <a:p>
            <a:r>
              <a:rPr lang="en-GB" b="1" dirty="0" err="1"/>
              <a:t>Contrôle</a:t>
            </a:r>
            <a:r>
              <a:rPr lang="en-GB" b="1" dirty="0"/>
              <a:t> des </a:t>
            </a:r>
            <a:r>
              <a:rPr lang="en-GB" b="1" dirty="0" err="1"/>
              <a:t>paramètres</a:t>
            </a:r>
            <a:r>
              <a:rPr lang="en-GB" b="1" dirty="0"/>
              <a:t> de sécurité</a:t>
            </a:r>
            <a:endParaRPr lang="en-GB" dirty="0"/>
          </a:p>
          <a:p>
            <a:pPr lvl="1"/>
            <a:r>
              <a:rPr lang="en-GB" dirty="0" err="1"/>
              <a:t>Comptes</a:t>
            </a:r>
            <a:r>
              <a:rPr lang="en-GB" dirty="0"/>
              <a:t> et permissions</a:t>
            </a:r>
          </a:p>
          <a:p>
            <a:pPr lvl="1"/>
            <a:r>
              <a:rPr lang="en-GB" dirty="0"/>
              <a:t>Services </a:t>
            </a:r>
            <a:r>
              <a:rPr lang="en-GB" dirty="0" err="1"/>
              <a:t>actifs</a:t>
            </a:r>
            <a:endParaRPr lang="en-GB" dirty="0"/>
          </a:p>
          <a:p>
            <a:pPr lvl="1"/>
            <a:r>
              <a:rPr lang="en-GB" dirty="0"/>
              <a:t>Configuration SSH</a:t>
            </a:r>
          </a:p>
          <a:p>
            <a:pPr lvl="1"/>
            <a:r>
              <a:rPr lang="en-GB" dirty="0"/>
              <a:t>Pare-feu</a:t>
            </a: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,493 Hacker Code High Res Illustrations - Getty Images | Cyber security,  Big data, Computer code">
            <a:extLst>
              <a:ext uri="{FF2B5EF4-FFF2-40B4-BE49-F238E27FC236}">
                <a16:creationId xmlns:a16="http://schemas.microsoft.com/office/drawing/2014/main" id="{97C8870E-7B6C-7061-1AD8-9250F337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404993" cy="8310535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11A6B65-5A20-4F4D-ACBB-ED50132D4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2329" y="1430563"/>
            <a:ext cx="6798250" cy="1674470"/>
          </a:xfrm>
        </p:spPr>
        <p:txBody>
          <a:bodyPr rtlCol="0"/>
          <a:lstStyle/>
          <a:p>
            <a:pPr rtl="0"/>
            <a:r>
              <a:rPr lang="en-GB" dirty="0"/>
              <a:t>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n-GB"/>
              <a:t>April Hansson</a:t>
            </a:r>
          </a:p>
        </p:txBody>
      </p:sp>
      <p:pic>
        <p:nvPicPr>
          <p:cNvPr id="10" name="Graphic 9" descr="Smart Phone" title="Icon - Presenter Phone Numbe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3050" y="4130805"/>
            <a:ext cx="218900" cy="21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n-GB"/>
              <a:t>+44 1239 876 554</a:t>
            </a:r>
          </a:p>
        </p:txBody>
      </p:sp>
      <p:pic>
        <p:nvPicPr>
          <p:cNvPr id="9" name="Graphic 8" descr="Envelope" title="Icon Presenter Email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050" y="4536623"/>
            <a:ext cx="218900" cy="218900"/>
          </a:xfrm>
          <a:prstGeom prst="rect">
            <a:avLst/>
          </a:prstGeom>
        </p:spPr>
      </p:pic>
      <p:pic>
        <p:nvPicPr>
          <p:cNvPr id="11" name="Graphic 10" descr="Link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6191" y="4904341"/>
            <a:ext cx="244786" cy="244786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382DE25-E72C-473B-AB0F-13DF377E6A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n-GB"/>
              <a:t>www.woodgrovebank.com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352CF6-0F22-45A8-B28B-37FAFCE5C5D6}"/>
              </a:ext>
            </a:extLst>
          </p:cNvPr>
          <p:cNvSpPr txBox="1"/>
          <p:nvPr/>
        </p:nvSpPr>
        <p:spPr>
          <a:xfrm>
            <a:off x="10251642" y="182562"/>
            <a:ext cx="1662546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>
              <a:lnSpc>
                <a:spcPts val="1400"/>
              </a:lnSpc>
            </a:pPr>
            <a:r>
              <a:rPr lang="en-GB" sz="1600" b="1" spc="-10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WOODGROVE</a:t>
            </a:r>
            <a:r>
              <a:rPr lang="en-GB" sz="1600" b="1" spc="-100">
                <a:solidFill>
                  <a:schemeClr val="accent1"/>
                </a:solidFill>
                <a:latin typeface="Corbel" panose="020B0503020204020204" pitchFamily="34" charset="0"/>
              </a:rPr>
              <a:t> </a:t>
            </a:r>
            <a:r>
              <a:rPr lang="en-GB" sz="1600" b="1" spc="-100">
                <a:solidFill>
                  <a:schemeClr val="tx1"/>
                </a:solidFill>
                <a:latin typeface="Corbel" panose="020B0503020204020204" pitchFamily="34" charset="0"/>
              </a:rPr>
              <a:t>BANK</a:t>
            </a:r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eeling like a hacker - Meme by MonkeyRange :) Memedroid">
            <a:extLst>
              <a:ext uri="{FF2B5EF4-FFF2-40B4-BE49-F238E27FC236}">
                <a16:creationId xmlns:a16="http://schemas.microsoft.com/office/drawing/2014/main" id="{65D57EB2-DFA3-F7CF-1DE1-84EAD511C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640" y="36170"/>
            <a:ext cx="2174360" cy="6821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C0F4E6-6513-6AA5-BD84-E17219FD1D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682AE-AD75-0383-D6AC-65C517F6ED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76200" y="4035727"/>
            <a:ext cx="5580411" cy="382887"/>
          </a:xfrm>
        </p:spPr>
        <p:txBody>
          <a:bodyPr/>
          <a:lstStyle/>
          <a:p>
            <a:r>
              <a:rPr lang="fr-FR" dirty="0"/>
              <a:t>THEOFAN PANDO</a:t>
            </a:r>
          </a:p>
          <a:p>
            <a:r>
              <a:rPr lang="fr-FR" dirty="0"/>
              <a:t>MOISE BEYOKO MAMBWENY</a:t>
            </a:r>
          </a:p>
          <a:p>
            <a:r>
              <a:rPr lang="fr-FR" dirty="0"/>
              <a:t>ALEXANDRE RODRIGUES PEREIRA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37C59-CB04-F149-343E-20F9F6A4E4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PHONE NUMBER : 17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7E92C-0A44-6F0E-142B-C79F5DB430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fr-FR" dirty="0"/>
              <a:t>COMPANY : AEGIS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9063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Custom 154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677756_TF67328976" id="{8D41288C-A143-4C55-A19F-9A38F7741759}" vid="{98B99BFD-3B7E-4AE0-80A8-38C1178D3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d0cbe9c-acd0-4269-b726-4bce2dd7b0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B013D2F89387478C6CBF2ABDE463AA" ma:contentTypeVersion="9" ma:contentTypeDescription="Create a new document." ma:contentTypeScope="" ma:versionID="91a098fa0ea6e002412847cc6876d269">
  <xsd:schema xmlns:xsd="http://www.w3.org/2001/XMLSchema" xmlns:xs="http://www.w3.org/2001/XMLSchema" xmlns:p="http://schemas.microsoft.com/office/2006/metadata/properties" xmlns:ns3="fd0cbe9c-acd0-4269-b726-4bce2dd7b032" targetNamespace="http://schemas.microsoft.com/office/2006/metadata/properties" ma:root="true" ma:fieldsID="68214d5204964fd77a2b5d067a48533d" ns3:_="">
    <xsd:import namespace="fd0cbe9c-acd0-4269-b726-4bce2dd7b03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0cbe9c-acd0-4269-b726-4bce2dd7b03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934E25-8442-49E9-ABDF-3146C4145F3B}">
  <ds:schemaRefs>
    <ds:schemaRef ds:uri="http://purl.org/dc/dcmitype/"/>
    <ds:schemaRef ds:uri="http://schemas.microsoft.com/office/2006/metadata/properties"/>
    <ds:schemaRef ds:uri="fd0cbe9c-acd0-4269-b726-4bce2dd7b032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6CB1848-D3E0-4F10-B640-720BE758B8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12E241-9EA9-4BF1-8BBD-23F4EA926C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0cbe9c-acd0-4269-b726-4bce2dd7b0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AEGIS PROJECT 0</Template>
  <TotalTime>35</TotalTime>
  <Words>270</Words>
  <Application>Microsoft Office PowerPoint</Application>
  <PresentationFormat>Widescreen</PresentationFormat>
  <Paragraphs>73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Corbel</vt:lpstr>
      <vt:lpstr>Times New Roman</vt:lpstr>
      <vt:lpstr>Office Theme</vt:lpstr>
      <vt:lpstr>Presentation AEGIS PROJECT 0</vt:lpstr>
      <vt:lpstr>PLAN : </vt:lpstr>
      <vt:lpstr>InTRODUCTION </vt:lpstr>
      <vt:lpstr>PowerPoint Presentation</vt:lpstr>
      <vt:lpstr>DEPLOIEMENT D’UNE INFRASTRUCTUR PROPRE</vt:lpstr>
      <vt:lpstr>Durcissement du système </vt:lpstr>
      <vt:lpstr>SCRIPT PYTHON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RODRIGUES PEREIRA</dc:creator>
  <cp:lastModifiedBy>Alexandre RODRIGUES PEREIRA</cp:lastModifiedBy>
  <cp:revision>2</cp:revision>
  <dcterms:created xsi:type="dcterms:W3CDTF">2026-07-09T10:39:34Z</dcterms:created>
  <dcterms:modified xsi:type="dcterms:W3CDTF">2026-07-10T08:33:24Z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0x01010064B013D2F89387478C6CBF2ABDE463AA</vt:lpwstr>
  </property>
</Properties>
</file>